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60" r:id="rId2"/>
    <p:sldId id="261" r:id="rId3"/>
    <p:sldId id="289" r:id="rId4"/>
    <p:sldId id="258" r:id="rId5"/>
    <p:sldId id="290" r:id="rId6"/>
    <p:sldId id="293" r:id="rId7"/>
    <p:sldId id="291" r:id="rId8"/>
    <p:sldId id="294" r:id="rId9"/>
    <p:sldId id="295" r:id="rId10"/>
    <p:sldId id="296" r:id="rId11"/>
    <p:sldId id="297" r:id="rId12"/>
    <p:sldId id="298" r:id="rId13"/>
    <p:sldId id="299" r:id="rId14"/>
    <p:sldId id="305" r:id="rId15"/>
    <p:sldId id="300" r:id="rId16"/>
    <p:sldId id="301" r:id="rId17"/>
    <p:sldId id="303" r:id="rId18"/>
    <p:sldId id="302" r:id="rId19"/>
    <p:sldId id="285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D3D7"/>
    <a:srgbClr val="D49BFF"/>
    <a:srgbClr val="FCBDB9"/>
    <a:srgbClr val="94BC2E"/>
    <a:srgbClr val="1E3252"/>
    <a:srgbClr val="FFFFFF"/>
    <a:srgbClr val="393939"/>
    <a:srgbClr val="04396C"/>
    <a:srgbClr val="6497B1"/>
    <a:srgbClr val="AEAFA9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43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31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EEC85-DF8D-4718-9A3E-A5BD3BE54333}" type="datetimeFigureOut">
              <a:rPr lang="ko-KR" altLang="en-US" smtClean="0"/>
              <a:t>2021-12-02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648759-0620-4156-B056-2EAE7B947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108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559767-A58A-49FE-B482-8B68046986F8}" type="datetimeFigureOut">
              <a:rPr lang="ko-KR" altLang="en-US" smtClean="0"/>
              <a:t>2021-12-02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8D108-EE8E-4C89-A33F-79C989027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3306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F6387-3403-4348-8A94-7ADE7975A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852A9D-DEAB-4D3B-BE4C-4D5506949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DBC8D7-B31E-450F-BC14-69F5BA00A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657B-152D-4CAB-97F3-BD24576688CF}" type="datetime1">
              <a:rPr lang="ko-KR" altLang="en-US" smtClean="0"/>
              <a:t>2021-12-02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A2F3B2-7919-4755-A2BA-E60311F1A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BE1C44-6ED9-45C3-85CE-F181F644D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409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09836B-546E-427C-901C-507669B2E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22D5C6-D2D2-4C8F-ADE8-FA9D32A89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0A3C13-BB40-4BA2-97FB-232FA10CF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9D749-237B-4690-8C2A-FEF0637814EB}" type="datetime1">
              <a:rPr lang="ko-KR" altLang="en-US" smtClean="0"/>
              <a:t>2021-12-02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46734E-5F3B-46DF-83F4-5253AC7D1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863EFD-2ECD-484B-8FE3-BD46DBAB3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135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C50236-D72C-46A8-8E43-F403AB51B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9E0306-8C68-4BA2-8E35-84C5A601A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55EBBB-3A9E-4875-91BC-BA0F98B72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2EA1-D055-4F74-AF0E-DAB47E353B38}" type="datetime1">
              <a:rPr lang="ko-KR" altLang="en-US" smtClean="0"/>
              <a:t>2021-12-02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214B26-FD9B-4500-9159-1814890F5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3211AD-49EC-4C32-ACD3-8CF24D255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600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D35847-E819-401C-8088-DE14C838B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CE0E58-A374-46C3-99E5-8CB5327620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D73669-31FC-4A43-BE3F-20FBB4989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487473-0381-424C-935F-E8DD5300B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C33A0-FB03-45BA-BAEA-D7525FE5BD51}" type="datetime1">
              <a:rPr lang="ko-KR" altLang="en-US" smtClean="0"/>
              <a:t>2021-12-02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79DC7E-293A-4118-BB25-14F86368D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BF8C06-A6F4-4D56-9961-2A48D376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38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92F4D-6C94-4897-AF69-B2184F151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8BF44-B930-48BD-847E-4378CC007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8F7027-CD07-42A0-AF50-45BC8A27D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38A2D0-3A12-4C29-9758-C0FA78627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EA347A6-004A-4A7B-931A-4A1D4E9628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1A1E329-33C9-4A40-B00F-E72E7768B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8767-7695-45F9-A93D-2066E5836D6F}" type="datetime1">
              <a:rPr lang="ko-KR" altLang="en-US" smtClean="0"/>
              <a:t>2021-12-02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58414FA-5EF1-4D32-A0B3-F5970B610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5AB276-1D41-4C3A-B4C6-AE34D86B4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83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6D34C-E153-4E55-8BE2-053CB23AE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C41366-6F59-49C8-B46F-241BACE3C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6719-8FBF-4668-8C32-A101B495BFB3}" type="datetime1">
              <a:rPr lang="ko-KR" altLang="en-US" smtClean="0"/>
              <a:t>2021-12-02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F1036E6-7409-4CCD-A33A-E8923C9C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FED2EA-EEA3-4D31-83CA-82087B8C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154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6C1AD2-5128-41ED-895C-723FBDAB28FF}"/>
              </a:ext>
            </a:extLst>
          </p:cNvPr>
          <p:cNvSpPr txBox="1"/>
          <p:nvPr userDrawn="1"/>
        </p:nvSpPr>
        <p:spPr>
          <a:xfrm>
            <a:off x="10200752" y="6614007"/>
            <a:ext cx="19880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solidFill>
                  <a:srgbClr val="4746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800" dirty="0">
                <a:solidFill>
                  <a:srgbClr val="4746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800" dirty="0" err="1">
                <a:solidFill>
                  <a:srgbClr val="4746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800" dirty="0">
                <a:solidFill>
                  <a:srgbClr val="4746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800" dirty="0">
                <a:solidFill>
                  <a:srgbClr val="4746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800" dirty="0">
              <a:solidFill>
                <a:srgbClr val="47465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CF9D7B-2295-434C-BB50-FBDB7CB4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F9765-4226-4B19-95EC-5C8FECB92D29}" type="datetime1">
              <a:rPr lang="ko-KR" altLang="en-US" smtClean="0"/>
              <a:t>2021-12-02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331C84-82A9-49FF-9C58-209FA7C6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52F265-5EDF-47AD-8C48-23E44987D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31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5EF8880-0C23-4695-A0B7-BA55B9DCC8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6C1AD2-5128-41ED-895C-723FBDAB28FF}"/>
              </a:ext>
            </a:extLst>
          </p:cNvPr>
          <p:cNvSpPr txBox="1"/>
          <p:nvPr userDrawn="1"/>
        </p:nvSpPr>
        <p:spPr>
          <a:xfrm>
            <a:off x="10200752" y="6614007"/>
            <a:ext cx="19880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CF9D7B-2295-434C-BB50-FBDB7CB4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8854-C7B3-465C-8983-6089CFCB1CDF}" type="datetime1">
              <a:rPr lang="ko-KR" altLang="en-US" smtClean="0"/>
              <a:t>2021-12-02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331C84-82A9-49FF-9C58-209FA7C6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52F265-5EDF-47AD-8C48-23E44987D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02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76295C-1AC2-468F-BE1D-57C4A587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AFE7A1-9037-44AB-B32C-A03544783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B44BA5-E666-41CE-9AB1-709CA4AED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42D173-D60A-49DD-9BBC-DFAC84640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4EE9B-8985-4280-BED5-754D06C0C9DF}" type="datetime1">
              <a:rPr lang="ko-KR" altLang="en-US" smtClean="0"/>
              <a:t>2021-12-02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9DC195-CC0D-4F1D-BA6A-0A1D6BEC9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4EE9A9-6FA0-459E-9839-090D4821A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375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47AC93-7A39-431A-9FB1-1E98C130D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D84B2D7-51AE-4A98-A99F-A3EB7D93C0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5744A8-FE11-4335-B99E-0C709334F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DD8B86-F04B-471A-B701-77C39BC72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F9A3F-99FE-430F-9A9D-FB7E300E9205}" type="datetime1">
              <a:rPr lang="ko-KR" altLang="en-US" smtClean="0"/>
              <a:t>2021-12-02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FDA001-D3E8-406C-85C1-C16B2895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AB922F-8FE5-4AD9-B4B7-0C32F5C0F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050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1F6FB-27DF-4EF8-9C39-2843CFAC3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DDFF65-E6AC-4DE9-BC59-8D94C9C73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713491-F16F-4D87-A871-72DDAB23D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EE67A-56AD-4C7A-84B5-F1135D347BA6}" type="datetime1">
              <a:rPr lang="ko-KR" altLang="en-US" smtClean="0"/>
              <a:t>2021-12-02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BB5D74-5FA0-4FE3-8C76-C5846785F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277ED0-AEC3-4AF7-92C1-9B942CF7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9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326BB87-EA73-4676-B5EE-CF484C7F3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EB9E6B-3317-49B6-BD7E-5D8A6D128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2096CD-9EE4-4657-B340-5D82EA015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163C-B204-4582-BDAE-DD26B12C6EE8}" type="datetime1">
              <a:rPr lang="ko-KR" altLang="en-US" smtClean="0"/>
              <a:t>2021-12-02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A142E6-326E-4C16-9093-56979C035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D65AFA-C355-40C1-80F6-8264E94A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908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F1A1494-3269-44A5-B276-FD1B11515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BE9EB2-ED9C-4B7A-B116-2B1071C0D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F56052-6094-4163-A308-25120BD6E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DE8F2-4754-4938-A583-5AB395095726}" type="datetime1">
              <a:rPr lang="ko-KR" altLang="en-US" smtClean="0"/>
              <a:t>2021-12-02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B435DB-002D-4705-918F-4D6B8113C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DB5B9A-8BFA-48CC-9427-80D4088612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966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0C4291-AA49-4611-97D5-21EC4368F85B}"/>
              </a:ext>
            </a:extLst>
          </p:cNvPr>
          <p:cNvSpPr txBox="1"/>
          <p:nvPr/>
        </p:nvSpPr>
        <p:spPr>
          <a:xfrm>
            <a:off x="2529164" y="2676872"/>
            <a:ext cx="71336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spc="-300" dirty="0" smtClean="0">
                <a:solidFill>
                  <a:schemeClr val="bg1"/>
                </a:solidFill>
              </a:rPr>
              <a:t>Classification with </a:t>
            </a:r>
            <a:r>
              <a:rPr lang="en-US" altLang="ko-KR" sz="4800" spc="-300" dirty="0" err="1" smtClean="0">
                <a:solidFill>
                  <a:schemeClr val="bg1"/>
                </a:solidFill>
              </a:rPr>
              <a:t>Tidymodels</a:t>
            </a:r>
            <a:endParaRPr lang="ko-KR" altLang="en-US" sz="4800" spc="-300" dirty="0">
              <a:solidFill>
                <a:schemeClr val="bg1"/>
              </a:solidFill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F12AE3B-B2F6-41CB-8089-A3BC3350D683}"/>
              </a:ext>
            </a:extLst>
          </p:cNvPr>
          <p:cNvCxnSpPr>
            <a:cxnSpLocks/>
          </p:cNvCxnSpPr>
          <p:nvPr/>
        </p:nvCxnSpPr>
        <p:spPr>
          <a:xfrm>
            <a:off x="3862055" y="217289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BDE27BE-D47F-4C86-A8A7-881E337B1B9F}"/>
              </a:ext>
            </a:extLst>
          </p:cNvPr>
          <p:cNvCxnSpPr>
            <a:cxnSpLocks/>
          </p:cNvCxnSpPr>
          <p:nvPr/>
        </p:nvCxnSpPr>
        <p:spPr>
          <a:xfrm>
            <a:off x="3862055" y="401185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A579EC9-5759-4D72-9456-D207CF1DDEEF}"/>
              </a:ext>
            </a:extLst>
          </p:cNvPr>
          <p:cNvSpPr txBox="1"/>
          <p:nvPr/>
        </p:nvSpPr>
        <p:spPr>
          <a:xfrm>
            <a:off x="5649405" y="4346555"/>
            <a:ext cx="89319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chemeClr val="bg1"/>
                </a:solidFill>
              </a:rPr>
              <a:t>1 TEAM</a:t>
            </a:r>
          </a:p>
          <a:p>
            <a:pPr algn="ctr"/>
            <a:r>
              <a:rPr lang="ko-KR" altLang="en-US" sz="1600" dirty="0" err="1" smtClean="0">
                <a:solidFill>
                  <a:schemeClr val="bg1"/>
                </a:solidFill>
              </a:rPr>
              <a:t>권도근</a:t>
            </a:r>
            <a:endParaRPr lang="en-US" altLang="ko-KR" sz="1600" dirty="0" smtClean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 smtClean="0">
                <a:solidFill>
                  <a:schemeClr val="bg1"/>
                </a:solidFill>
              </a:rPr>
              <a:t>김재원</a:t>
            </a:r>
            <a:endParaRPr lang="en-US" altLang="ko-KR" sz="1600" dirty="0" smtClean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 smtClean="0">
                <a:solidFill>
                  <a:schemeClr val="bg1"/>
                </a:solidFill>
              </a:rPr>
              <a:t>정승원</a:t>
            </a:r>
            <a:endParaRPr lang="en-US" altLang="ko-KR" sz="1600" dirty="0" smtClean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 err="1" smtClean="0">
                <a:solidFill>
                  <a:schemeClr val="bg1"/>
                </a:solidFill>
              </a:rPr>
              <a:t>전우정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6975" y="6210300"/>
            <a:ext cx="210502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74299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46E572-061A-4F66-860A-EA1641AD3DE2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A4C0C-593F-49EA-A036-AAE8EB62D98B}"/>
              </a:ext>
            </a:extLst>
          </p:cNvPr>
          <p:cNvSpPr txBox="1"/>
          <p:nvPr/>
        </p:nvSpPr>
        <p:spPr>
          <a:xfrm>
            <a:off x="335280" y="2600960"/>
            <a:ext cx="3764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+mj-ea"/>
                <a:ea typeface="+mj-ea"/>
              </a:rPr>
              <a:t>A Table of </a:t>
            </a:r>
            <a:r>
              <a:rPr lang="en-US" altLang="ko-KR" sz="3600" spc="-300" dirty="0" smtClean="0">
                <a:solidFill>
                  <a:schemeClr val="bg1"/>
                </a:solidFill>
                <a:latin typeface="+mj-ea"/>
                <a:ea typeface="+mj-ea"/>
              </a:rPr>
              <a:t>Contents</a:t>
            </a:r>
            <a:endParaRPr lang="ko-KR" altLang="en-US" sz="3600" spc="-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D65EFFB-77B3-4093-9EBE-5BC7CD9D594B}"/>
              </a:ext>
            </a:extLst>
          </p:cNvPr>
          <p:cNvGrpSpPr/>
          <p:nvPr/>
        </p:nvGrpSpPr>
        <p:grpSpPr>
          <a:xfrm>
            <a:off x="619016" y="3799840"/>
            <a:ext cx="3423873" cy="707886"/>
            <a:chOff x="294640" y="3596640"/>
            <a:chExt cx="3423873" cy="70788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4775390-ADD7-4C94-8805-D912724ABC3E}"/>
                </a:ext>
              </a:extLst>
            </p:cNvPr>
            <p:cNvSpPr txBox="1"/>
            <p:nvPr/>
          </p:nvSpPr>
          <p:spPr>
            <a:xfrm>
              <a:off x="294640" y="3596640"/>
              <a:ext cx="50206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000" b="1" dirty="0">
                  <a:solidFill>
                    <a:schemeClr val="accent1"/>
                  </a:solidFill>
                  <a:latin typeface="+mj-ea"/>
                  <a:ea typeface="+mj-ea"/>
                </a:rPr>
                <a:t>1</a:t>
              </a:r>
              <a:endParaRPr lang="ko-KR" altLang="en-US" sz="40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4461C2D-7B54-4B3D-9449-360FD650556A}"/>
                </a:ext>
              </a:extLst>
            </p:cNvPr>
            <p:cNvSpPr txBox="1"/>
            <p:nvPr/>
          </p:nvSpPr>
          <p:spPr>
            <a:xfrm>
              <a:off x="943394" y="3688973"/>
              <a:ext cx="27751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spc="-150" dirty="0" smtClean="0">
                  <a:solidFill>
                    <a:srgbClr val="393939"/>
                  </a:solidFill>
                </a:rPr>
                <a:t>개요 및 대회 목적</a:t>
              </a:r>
              <a:endParaRPr lang="ko-KR" altLang="en-US" sz="2800" spc="-150" dirty="0">
                <a:solidFill>
                  <a:srgbClr val="393939"/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CF3CB36-97CB-4B01-AB5E-847ED38F7969}"/>
              </a:ext>
            </a:extLst>
          </p:cNvPr>
          <p:cNvGrpSpPr/>
          <p:nvPr/>
        </p:nvGrpSpPr>
        <p:grpSpPr>
          <a:xfrm>
            <a:off x="619016" y="4790678"/>
            <a:ext cx="2942972" cy="707886"/>
            <a:chOff x="294640" y="3596640"/>
            <a:chExt cx="2942972" cy="70788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33E10E-6802-4565-A9E8-5457EEEB6662}"/>
                </a:ext>
              </a:extLst>
            </p:cNvPr>
            <p:cNvSpPr txBox="1"/>
            <p:nvPr/>
          </p:nvSpPr>
          <p:spPr>
            <a:xfrm>
              <a:off x="294640" y="3596640"/>
              <a:ext cx="50206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000" b="1" dirty="0">
                  <a:solidFill>
                    <a:schemeClr val="accent1"/>
                  </a:solidFill>
                  <a:latin typeface="+mj-ea"/>
                  <a:ea typeface="+mj-ea"/>
                </a:rPr>
                <a:t>2</a:t>
              </a:r>
              <a:endParaRPr lang="ko-KR" altLang="en-US" sz="40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C73533-A9D9-4EEB-A800-80F0AD62009F}"/>
                </a:ext>
              </a:extLst>
            </p:cNvPr>
            <p:cNvSpPr txBox="1"/>
            <p:nvPr/>
          </p:nvSpPr>
          <p:spPr>
            <a:xfrm>
              <a:off x="943394" y="3688973"/>
              <a:ext cx="22942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spc="-150" dirty="0" smtClean="0">
                  <a:solidFill>
                    <a:srgbClr val="393939"/>
                  </a:solidFill>
                </a:rPr>
                <a:t>데이터 시각화</a:t>
              </a:r>
              <a:endParaRPr lang="ko-KR" altLang="en-US" sz="2800" spc="-150" dirty="0">
                <a:solidFill>
                  <a:srgbClr val="393939"/>
                </a:solidFill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0D1E44C-6008-4F6E-880B-4E8105F0CF77}"/>
              </a:ext>
            </a:extLst>
          </p:cNvPr>
          <p:cNvGrpSpPr/>
          <p:nvPr/>
        </p:nvGrpSpPr>
        <p:grpSpPr>
          <a:xfrm>
            <a:off x="619016" y="5781516"/>
            <a:ext cx="2293756" cy="707886"/>
            <a:chOff x="294640" y="3596640"/>
            <a:chExt cx="2293756" cy="70788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CC6CD2E-3CC1-4835-B282-AE92CEFFFE97}"/>
                </a:ext>
              </a:extLst>
            </p:cNvPr>
            <p:cNvSpPr txBox="1"/>
            <p:nvPr/>
          </p:nvSpPr>
          <p:spPr>
            <a:xfrm>
              <a:off x="294640" y="3596640"/>
              <a:ext cx="50206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000" b="1" dirty="0">
                  <a:solidFill>
                    <a:schemeClr val="accent1"/>
                  </a:solidFill>
                  <a:latin typeface="+mj-ea"/>
                  <a:ea typeface="+mj-ea"/>
                </a:rPr>
                <a:t>3</a:t>
              </a:r>
              <a:endParaRPr lang="ko-KR" altLang="en-US" sz="40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245155-BF92-4471-AC62-A87A47A31390}"/>
                </a:ext>
              </a:extLst>
            </p:cNvPr>
            <p:cNvSpPr txBox="1"/>
            <p:nvPr/>
          </p:nvSpPr>
          <p:spPr>
            <a:xfrm>
              <a:off x="943394" y="3688973"/>
              <a:ext cx="16450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spc="-150" dirty="0" smtClean="0">
                  <a:solidFill>
                    <a:srgbClr val="393939"/>
                  </a:solidFill>
                </a:rPr>
                <a:t>모델 학습</a:t>
              </a:r>
              <a:endParaRPr lang="ko-KR" altLang="en-US" sz="2800" spc="-150" dirty="0">
                <a:solidFill>
                  <a:srgbClr val="393939"/>
                </a:solidFill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815D7E5-60ED-43DF-A965-981DE5CCE4E8}"/>
              </a:ext>
            </a:extLst>
          </p:cNvPr>
          <p:cNvSpPr txBox="1"/>
          <p:nvPr/>
        </p:nvSpPr>
        <p:spPr>
          <a:xfrm>
            <a:off x="4268921" y="4002117"/>
            <a:ext cx="41472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rgbClr val="393939"/>
                </a:solidFill>
                <a:latin typeface="Arial Nova Light" panose="020B0304020202020204" pitchFamily="34" charset="0"/>
              </a:rPr>
              <a:t>개요 및 대회 목적 </a:t>
            </a:r>
            <a:r>
              <a:rPr lang="en-US" altLang="ko-KR" sz="1200" dirty="0" smtClean="0">
                <a:solidFill>
                  <a:srgbClr val="393939"/>
                </a:solidFill>
                <a:latin typeface="Arial Nova Light" panose="020B0304020202020204" pitchFamily="34" charset="0"/>
              </a:rPr>
              <a:t>/ </a:t>
            </a:r>
            <a:r>
              <a:rPr lang="ko-KR" altLang="en-US" sz="1200" dirty="0" smtClean="0">
                <a:solidFill>
                  <a:srgbClr val="393939"/>
                </a:solidFill>
                <a:latin typeface="Arial Nova Light" panose="020B0304020202020204" pitchFamily="34" charset="0"/>
              </a:rPr>
              <a:t>데이터 불러오기 </a:t>
            </a:r>
            <a:r>
              <a:rPr lang="en-US" altLang="ko-KR" sz="1200" dirty="0" smtClean="0">
                <a:solidFill>
                  <a:srgbClr val="393939"/>
                </a:solidFill>
                <a:latin typeface="Arial Nova Light" panose="020B0304020202020204" pitchFamily="34" charset="0"/>
              </a:rPr>
              <a:t>/ </a:t>
            </a:r>
            <a:r>
              <a:rPr lang="ko-KR" altLang="en-US" sz="1200" dirty="0" smtClean="0">
                <a:solidFill>
                  <a:srgbClr val="393939"/>
                </a:solidFill>
                <a:latin typeface="Arial Nova Light" panose="020B0304020202020204" pitchFamily="34" charset="0"/>
              </a:rPr>
              <a:t>탐색적 자료 분석</a:t>
            </a:r>
            <a:endParaRPr lang="ko-KR" altLang="en-US" sz="1200" dirty="0">
              <a:solidFill>
                <a:srgbClr val="393939"/>
              </a:solidFill>
              <a:latin typeface="Arial Nova Light" panose="020B03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878532-1B29-4755-8161-781DC10241C0}"/>
              </a:ext>
            </a:extLst>
          </p:cNvPr>
          <p:cNvSpPr txBox="1"/>
          <p:nvPr/>
        </p:nvSpPr>
        <p:spPr>
          <a:xfrm>
            <a:off x="4268920" y="5006121"/>
            <a:ext cx="3934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 smtClean="0">
                <a:solidFill>
                  <a:srgbClr val="393939"/>
                </a:solidFill>
                <a:latin typeface="Arial Nova Light" panose="020B0304020202020204" pitchFamily="34" charset="0"/>
              </a:rPr>
              <a:t>단변량</a:t>
            </a:r>
            <a:r>
              <a:rPr lang="ko-KR" altLang="en-US" sz="1200" dirty="0" smtClean="0">
                <a:solidFill>
                  <a:srgbClr val="393939"/>
                </a:solidFill>
                <a:latin typeface="Arial Nova Light" panose="020B0304020202020204" pitchFamily="34" charset="0"/>
              </a:rPr>
              <a:t> 시각화 </a:t>
            </a:r>
            <a:r>
              <a:rPr lang="en-US" altLang="ko-KR" sz="1200" dirty="0" smtClean="0">
                <a:solidFill>
                  <a:srgbClr val="393939"/>
                </a:solidFill>
                <a:latin typeface="Arial Nova Light" panose="020B0304020202020204" pitchFamily="34" charset="0"/>
              </a:rPr>
              <a:t>/ </a:t>
            </a:r>
            <a:r>
              <a:rPr lang="ko-KR" altLang="en-US" sz="1200" dirty="0" smtClean="0">
                <a:solidFill>
                  <a:srgbClr val="393939"/>
                </a:solidFill>
                <a:latin typeface="Arial Nova Light" panose="020B0304020202020204" pitchFamily="34" charset="0"/>
              </a:rPr>
              <a:t>양적 변수 시각화 </a:t>
            </a:r>
            <a:r>
              <a:rPr lang="en-US" altLang="ko-KR" sz="1200" dirty="0" smtClean="0">
                <a:solidFill>
                  <a:srgbClr val="393939"/>
                </a:solidFill>
                <a:latin typeface="Arial Nova Light" panose="020B0304020202020204" pitchFamily="34" charset="0"/>
              </a:rPr>
              <a:t>/ </a:t>
            </a:r>
            <a:r>
              <a:rPr lang="ko-KR" altLang="en-US" sz="1200" dirty="0" smtClean="0">
                <a:solidFill>
                  <a:srgbClr val="393939"/>
                </a:solidFill>
                <a:latin typeface="Arial Nova Light" panose="020B0304020202020204" pitchFamily="34" charset="0"/>
              </a:rPr>
              <a:t>질적 변수 시각화</a:t>
            </a:r>
            <a:endParaRPr lang="ko-KR" altLang="en-US" sz="1200" dirty="0">
              <a:solidFill>
                <a:srgbClr val="393939"/>
              </a:solidFill>
              <a:latin typeface="Arial Nova Light" panose="020B03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AC1990-BFF3-4AA5-95DC-8A41214D61CA}"/>
              </a:ext>
            </a:extLst>
          </p:cNvPr>
          <p:cNvSpPr txBox="1"/>
          <p:nvPr/>
        </p:nvSpPr>
        <p:spPr>
          <a:xfrm>
            <a:off x="4268920" y="6010125"/>
            <a:ext cx="2986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 smtClean="0">
                <a:solidFill>
                  <a:srgbClr val="393939"/>
                </a:solidFill>
                <a:latin typeface="Arial Nova Light" panose="020B0304020202020204" pitchFamily="34" charset="0"/>
              </a:rPr>
              <a:t>데이터분리</a:t>
            </a:r>
            <a:r>
              <a:rPr lang="ko-KR" altLang="en-US" sz="1200" dirty="0" smtClean="0">
                <a:solidFill>
                  <a:srgbClr val="393939"/>
                </a:solidFill>
                <a:latin typeface="Arial Nova Light" panose="020B0304020202020204" pitchFamily="34" charset="0"/>
              </a:rPr>
              <a:t> </a:t>
            </a:r>
            <a:r>
              <a:rPr lang="en-US" altLang="ko-KR" sz="1200" dirty="0" smtClean="0">
                <a:solidFill>
                  <a:srgbClr val="393939"/>
                </a:solidFill>
                <a:latin typeface="Arial Nova Light" panose="020B0304020202020204" pitchFamily="34" charset="0"/>
              </a:rPr>
              <a:t>/ </a:t>
            </a:r>
            <a:r>
              <a:rPr lang="ko-KR" altLang="en-US" sz="1200" dirty="0" smtClean="0">
                <a:solidFill>
                  <a:srgbClr val="393939"/>
                </a:solidFill>
                <a:latin typeface="Arial Nova Light" panose="020B0304020202020204" pitchFamily="34" charset="0"/>
              </a:rPr>
              <a:t>모델개발</a:t>
            </a:r>
            <a:r>
              <a:rPr lang="en-US" altLang="ko-KR" sz="1200" dirty="0" smtClean="0">
                <a:solidFill>
                  <a:srgbClr val="393939"/>
                </a:solidFill>
                <a:latin typeface="Arial Nova Light" panose="020B0304020202020204" pitchFamily="34" charset="0"/>
              </a:rPr>
              <a:t> / </a:t>
            </a:r>
            <a:r>
              <a:rPr lang="ko-KR" altLang="en-US" sz="1200" dirty="0" smtClean="0">
                <a:solidFill>
                  <a:srgbClr val="393939"/>
                </a:solidFill>
                <a:latin typeface="Arial Nova Light" panose="020B0304020202020204" pitchFamily="34" charset="0"/>
              </a:rPr>
              <a:t>모델 학습 비교</a:t>
            </a:r>
            <a:endParaRPr lang="en-US" altLang="ko-KR" sz="1200" dirty="0">
              <a:solidFill>
                <a:srgbClr val="A09484"/>
              </a:solidFill>
              <a:latin typeface="+mj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149840" y="6550429"/>
            <a:ext cx="2042160" cy="307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695113" y="3973484"/>
            <a:ext cx="26517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smtClean="0"/>
              <a:t>담당 </a:t>
            </a:r>
            <a:r>
              <a:rPr lang="en-US" altLang="ko-KR" sz="900" dirty="0" smtClean="0"/>
              <a:t>:</a:t>
            </a:r>
            <a:r>
              <a:rPr lang="ko-KR" altLang="en-US" sz="900" dirty="0" smtClean="0"/>
              <a:t>정승원</a:t>
            </a:r>
            <a:endParaRPr lang="ko-KR" altLang="en-US" sz="900" dirty="0"/>
          </a:p>
        </p:txBody>
      </p:sp>
      <p:sp>
        <p:nvSpPr>
          <p:cNvPr id="19" name="TextBox 18"/>
          <p:cNvSpPr txBox="1"/>
          <p:nvPr/>
        </p:nvSpPr>
        <p:spPr>
          <a:xfrm>
            <a:off x="8695113" y="5006120"/>
            <a:ext cx="26517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smtClean="0"/>
              <a:t>담당 </a:t>
            </a:r>
            <a:r>
              <a:rPr lang="en-US" altLang="ko-KR" sz="900" dirty="0" smtClean="0"/>
              <a:t>:</a:t>
            </a:r>
            <a:r>
              <a:rPr lang="ko-KR" altLang="en-US" sz="900" dirty="0" err="1" smtClean="0"/>
              <a:t>전우정</a:t>
            </a:r>
            <a:r>
              <a:rPr lang="en-US" altLang="ko-KR" sz="900" dirty="0" smtClean="0"/>
              <a:t>,</a:t>
            </a:r>
            <a:r>
              <a:rPr lang="ko-KR" altLang="en-US" sz="900" dirty="0" smtClean="0"/>
              <a:t>김재원</a:t>
            </a:r>
            <a:endParaRPr lang="ko-KR" altLang="en-US" sz="900" dirty="0"/>
          </a:p>
        </p:txBody>
      </p:sp>
      <p:sp>
        <p:nvSpPr>
          <p:cNvPr id="20" name="TextBox 19"/>
          <p:cNvSpPr txBox="1"/>
          <p:nvPr/>
        </p:nvSpPr>
        <p:spPr>
          <a:xfrm>
            <a:off x="8695113" y="5996959"/>
            <a:ext cx="26517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smtClean="0"/>
              <a:t>담당 </a:t>
            </a:r>
            <a:r>
              <a:rPr lang="en-US" altLang="ko-KR" sz="900" dirty="0" smtClean="0"/>
              <a:t>:</a:t>
            </a:r>
            <a:r>
              <a:rPr lang="ko-KR" altLang="en-US" sz="900" dirty="0" err="1" smtClean="0"/>
              <a:t>권도근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0615470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FB742AF-8DE1-4801-BAAB-FF7C033D40F3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B29B74-5530-431A-9A1D-6C360E5E40A6}"/>
              </a:ext>
            </a:extLst>
          </p:cNvPr>
          <p:cNvSpPr txBox="1"/>
          <p:nvPr/>
        </p:nvSpPr>
        <p:spPr>
          <a:xfrm>
            <a:off x="1647264" y="3105834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bg1"/>
                </a:solidFill>
              </a:rPr>
              <a:t>개요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6DC040-1911-4DE1-B7BA-8D50B20BC5F8}"/>
              </a:ext>
            </a:extLst>
          </p:cNvPr>
          <p:cNvSpPr txBox="1"/>
          <p:nvPr/>
        </p:nvSpPr>
        <p:spPr>
          <a:xfrm>
            <a:off x="904240" y="3121223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1,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9C7568C-DA98-40CE-9115-1F19853EEDF6}"/>
              </a:ext>
            </a:extLst>
          </p:cNvPr>
          <p:cNvCxnSpPr>
            <a:cxnSpLocks/>
          </p:cNvCxnSpPr>
          <p:nvPr/>
        </p:nvCxnSpPr>
        <p:spPr>
          <a:xfrm>
            <a:off x="904240" y="282313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2A7BF85-EFF0-4169-9F33-5B30AFBB9A2A}"/>
              </a:ext>
            </a:extLst>
          </p:cNvPr>
          <p:cNvCxnSpPr>
            <a:cxnSpLocks/>
          </p:cNvCxnSpPr>
          <p:nvPr/>
        </p:nvCxnSpPr>
        <p:spPr>
          <a:xfrm>
            <a:off x="904240" y="401185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805" y="1064029"/>
            <a:ext cx="4990032" cy="47299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15D7E5-60ED-43DF-A965-981DE5CCE4E8}"/>
              </a:ext>
            </a:extLst>
          </p:cNvPr>
          <p:cNvSpPr txBox="1"/>
          <p:nvPr/>
        </p:nvSpPr>
        <p:spPr>
          <a:xfrm>
            <a:off x="1354683" y="4802384"/>
            <a:ext cx="34622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FFFFFF"/>
                </a:solidFill>
                <a:latin typeface="Arial Nova Light" panose="020B0304020202020204" pitchFamily="34" charset="0"/>
              </a:rPr>
              <a:t>새로운 </a:t>
            </a:r>
            <a:r>
              <a:rPr lang="en-US" altLang="ko-KR" sz="1200" dirty="0" smtClean="0">
                <a:solidFill>
                  <a:srgbClr val="FFFFFF"/>
                </a:solidFill>
                <a:latin typeface="Arial Nova Light" panose="020B0304020202020204" pitchFamily="34" charset="0"/>
              </a:rPr>
              <a:t>ML </a:t>
            </a:r>
            <a:r>
              <a:rPr lang="ko-KR" altLang="en-US" sz="1200" dirty="0" smtClean="0">
                <a:solidFill>
                  <a:srgbClr val="FFFFFF"/>
                </a:solidFill>
                <a:latin typeface="Arial Nova Light" panose="020B0304020202020204" pitchFamily="34" charset="0"/>
              </a:rPr>
              <a:t>라이브러리인 </a:t>
            </a:r>
            <a:r>
              <a:rPr lang="en-US" altLang="ko-KR" sz="2000" dirty="0" err="1" smtClean="0">
                <a:solidFill>
                  <a:srgbClr val="FFFFFF"/>
                </a:solidFill>
                <a:latin typeface="Arial Nova Light" panose="020B0304020202020204" pitchFamily="34" charset="0"/>
              </a:rPr>
              <a:t>Tidymodels</a:t>
            </a:r>
            <a:r>
              <a:rPr lang="en-US" altLang="ko-KR" sz="2000" dirty="0" smtClean="0">
                <a:solidFill>
                  <a:srgbClr val="FFFFFF"/>
                </a:solidFill>
                <a:latin typeface="Arial Nova Light" panose="020B0304020202020204" pitchFamily="34" charset="0"/>
              </a:rPr>
              <a:t> </a:t>
            </a:r>
            <a:r>
              <a:rPr lang="ko-KR" altLang="en-US" sz="1200" dirty="0" smtClean="0">
                <a:solidFill>
                  <a:srgbClr val="FFFFFF"/>
                </a:solidFill>
                <a:latin typeface="Arial Nova Light" panose="020B0304020202020204" pitchFamily="34" charset="0"/>
              </a:rPr>
              <a:t>활용</a:t>
            </a:r>
            <a:endParaRPr lang="en-US" altLang="ko-KR" sz="1200" dirty="0" smtClean="0">
              <a:solidFill>
                <a:srgbClr val="FFFFFF"/>
              </a:solidFill>
              <a:latin typeface="Arial Nova Light" panose="020B0304020202020204" pitchFamily="34" charset="0"/>
            </a:endParaRPr>
          </a:p>
          <a:p>
            <a:endParaRPr lang="en-US" altLang="ko-KR" sz="1200" dirty="0" smtClean="0">
              <a:solidFill>
                <a:srgbClr val="FFFFFF"/>
              </a:solidFill>
              <a:latin typeface="Arial Nova Light" panose="020B0304020202020204" pitchFamily="34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0149840" y="6550429"/>
            <a:ext cx="2042160" cy="307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77724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FB742AF-8DE1-4801-BAAB-FF7C033D40F3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B29B74-5530-431A-9A1D-6C360E5E40A6}"/>
              </a:ext>
            </a:extLst>
          </p:cNvPr>
          <p:cNvSpPr txBox="1"/>
          <p:nvPr/>
        </p:nvSpPr>
        <p:spPr>
          <a:xfrm>
            <a:off x="1647264" y="3105834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bg1"/>
                </a:solidFill>
              </a:rPr>
              <a:t>대회 목적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6DC040-1911-4DE1-B7BA-8D50B20BC5F8}"/>
              </a:ext>
            </a:extLst>
          </p:cNvPr>
          <p:cNvSpPr txBox="1"/>
          <p:nvPr/>
        </p:nvSpPr>
        <p:spPr>
          <a:xfrm>
            <a:off x="904240" y="3121223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1,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9C7568C-DA98-40CE-9115-1F19853EEDF6}"/>
              </a:ext>
            </a:extLst>
          </p:cNvPr>
          <p:cNvCxnSpPr>
            <a:cxnSpLocks/>
          </p:cNvCxnSpPr>
          <p:nvPr/>
        </p:nvCxnSpPr>
        <p:spPr>
          <a:xfrm>
            <a:off x="904240" y="282313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2A7BF85-EFF0-4169-9F33-5B30AFBB9A2A}"/>
              </a:ext>
            </a:extLst>
          </p:cNvPr>
          <p:cNvCxnSpPr>
            <a:cxnSpLocks/>
          </p:cNvCxnSpPr>
          <p:nvPr/>
        </p:nvCxnSpPr>
        <p:spPr>
          <a:xfrm>
            <a:off x="904240" y="401185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815D7E5-60ED-43DF-A965-981DE5CCE4E8}"/>
              </a:ext>
            </a:extLst>
          </p:cNvPr>
          <p:cNvSpPr txBox="1"/>
          <p:nvPr/>
        </p:nvSpPr>
        <p:spPr>
          <a:xfrm>
            <a:off x="1354683" y="4802384"/>
            <a:ext cx="346224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200" dirty="0" smtClean="0">
              <a:solidFill>
                <a:srgbClr val="FFFFFF"/>
              </a:solidFill>
              <a:latin typeface="Arial Nova Light" panose="020B0304020202020204" pitchFamily="34" charset="0"/>
            </a:endParaRPr>
          </a:p>
          <a:p>
            <a:r>
              <a:rPr lang="ko-KR" altLang="en-US" sz="1200" dirty="0" smtClean="0">
                <a:solidFill>
                  <a:srgbClr val="FFFFFF"/>
                </a:solidFill>
                <a:latin typeface="Arial Nova Light" panose="020B0304020202020204" pitchFamily="34" charset="0"/>
              </a:rPr>
              <a:t>대출 승인 여부를 결정하는 모델</a:t>
            </a:r>
            <a:endParaRPr lang="en-US" altLang="ko-KR" sz="1200" dirty="0" smtClean="0">
              <a:solidFill>
                <a:srgbClr val="FFFFFF"/>
              </a:solidFill>
              <a:latin typeface="Arial Nova Light" panose="020B0304020202020204" pitchFamily="34" charset="0"/>
            </a:endParaRPr>
          </a:p>
          <a:p>
            <a:endParaRPr lang="en-US" altLang="ko-KR" sz="1200" dirty="0" smtClean="0">
              <a:solidFill>
                <a:srgbClr val="FFFFFF"/>
              </a:solidFill>
              <a:latin typeface="Arial Nova Light" panose="020B0304020202020204" pitchFamily="34" charset="0"/>
            </a:endParaRPr>
          </a:p>
          <a:p>
            <a:r>
              <a:rPr lang="ko-KR" altLang="en-US" sz="1200" dirty="0" smtClean="0">
                <a:solidFill>
                  <a:srgbClr val="FFFFFF"/>
                </a:solidFill>
                <a:latin typeface="Arial Nova Light" panose="020B0304020202020204" pitchFamily="34" charset="0"/>
              </a:rPr>
              <a:t>평가지표는 </a:t>
            </a:r>
            <a:r>
              <a:rPr lang="en-US" altLang="ko-KR" sz="3200" dirty="0" err="1" smtClean="0">
                <a:solidFill>
                  <a:srgbClr val="FFFFFF"/>
                </a:solidFill>
                <a:latin typeface="Arial Nova Light" panose="020B0304020202020204" pitchFamily="34" charset="0"/>
              </a:rPr>
              <a:t>Accurarcy</a:t>
            </a:r>
            <a:r>
              <a:rPr lang="ko-KR" altLang="en-US" sz="1200" dirty="0" smtClean="0">
                <a:solidFill>
                  <a:srgbClr val="FFFFFF"/>
                </a:solidFill>
                <a:latin typeface="Arial Nova Light" panose="020B0304020202020204" pitchFamily="34" charset="0"/>
              </a:rPr>
              <a:t>로 결정</a:t>
            </a:r>
            <a:endParaRPr lang="ko-KR" altLang="en-US" sz="1200" dirty="0">
              <a:solidFill>
                <a:srgbClr val="FFFFFF"/>
              </a:solidFill>
              <a:latin typeface="Arial Nova Light" panose="020B030402020202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611" y="58190"/>
            <a:ext cx="5940033" cy="6400800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10149840" y="6550429"/>
            <a:ext cx="2042160" cy="307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29153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46E572-061A-4F66-860A-EA1641AD3DE2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1765C-E4E1-440B-B3F6-AD127EB533CF}"/>
              </a:ext>
            </a:extLst>
          </p:cNvPr>
          <p:cNvSpPr txBox="1"/>
          <p:nvPr/>
        </p:nvSpPr>
        <p:spPr>
          <a:xfrm>
            <a:off x="875104" y="101916"/>
            <a:ext cx="3223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bg1"/>
                </a:solidFill>
              </a:rPr>
              <a:t>데이터 불러오기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77FB6-6DE1-44E4-8EF8-7160153CD120}"/>
              </a:ext>
            </a:extLst>
          </p:cNvPr>
          <p:cNvSpPr txBox="1"/>
          <p:nvPr/>
        </p:nvSpPr>
        <p:spPr>
          <a:xfrm>
            <a:off x="132080" y="117305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</a:t>
            </a:r>
            <a:r>
              <a:rPr lang="en-US" altLang="ko-KR" sz="1400" dirty="0" smtClean="0">
                <a:solidFill>
                  <a:schemeClr val="bg1"/>
                </a:solidFill>
              </a:rPr>
              <a:t>1,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25DEC-4F15-4754-B254-3D7F6BCAC00C}"/>
              </a:ext>
            </a:extLst>
          </p:cNvPr>
          <p:cNvSpPr txBox="1"/>
          <p:nvPr/>
        </p:nvSpPr>
        <p:spPr>
          <a:xfrm>
            <a:off x="875104" y="676096"/>
            <a:ext cx="20986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chemeClr val="bg1"/>
                </a:solidFill>
                <a:latin typeface="Arial Nova Light" panose="020B0304020202020204" pitchFamily="34" charset="0"/>
              </a:rPr>
              <a:t>Loan </a:t>
            </a:r>
            <a:r>
              <a:rPr lang="en-US" altLang="ko-KR" sz="1100" dirty="0">
                <a:solidFill>
                  <a:schemeClr val="bg1"/>
                </a:solidFill>
                <a:latin typeface="Arial Nova Light" panose="020B0304020202020204" pitchFamily="34" charset="0"/>
              </a:rPr>
              <a:t>Prediction Practice Problem</a:t>
            </a:r>
            <a:endParaRPr lang="ko-KR" altLang="en-US" sz="1100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BCC2A94-3B7C-40CD-85CA-3396D49AB7DB}"/>
              </a:ext>
            </a:extLst>
          </p:cNvPr>
          <p:cNvSpPr/>
          <p:nvPr/>
        </p:nvSpPr>
        <p:spPr>
          <a:xfrm>
            <a:off x="481567" y="1495581"/>
            <a:ext cx="5413594" cy="4911323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03DF181-F5FC-4296-804F-A14ADC41E677}"/>
              </a:ext>
            </a:extLst>
          </p:cNvPr>
          <p:cNvSpPr/>
          <p:nvPr/>
        </p:nvSpPr>
        <p:spPr>
          <a:xfrm>
            <a:off x="6314157" y="1495581"/>
            <a:ext cx="5396276" cy="4911321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6228D44-9A46-445D-B8E2-218436356BD1}"/>
              </a:ext>
            </a:extLst>
          </p:cNvPr>
          <p:cNvSpPr/>
          <p:nvPr/>
        </p:nvSpPr>
        <p:spPr>
          <a:xfrm>
            <a:off x="709177" y="1708060"/>
            <a:ext cx="4980423" cy="6844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300"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5668D1-B06A-4F43-91C8-6A23B83E156E}"/>
              </a:ext>
            </a:extLst>
          </p:cNvPr>
          <p:cNvSpPr txBox="1"/>
          <p:nvPr/>
        </p:nvSpPr>
        <p:spPr>
          <a:xfrm>
            <a:off x="2570802" y="1788695"/>
            <a:ext cx="1146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Train file</a:t>
            </a:r>
            <a:endParaRPr lang="ko-KR" altLang="en-US" sz="2800" spc="-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149840" y="6550429"/>
            <a:ext cx="2042160" cy="307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228D44-9A46-445D-B8E2-218436356BD1}"/>
              </a:ext>
            </a:extLst>
          </p:cNvPr>
          <p:cNvSpPr/>
          <p:nvPr/>
        </p:nvSpPr>
        <p:spPr>
          <a:xfrm>
            <a:off x="6541941" y="1708060"/>
            <a:ext cx="4980423" cy="6844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300"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5668D1-B06A-4F43-91C8-6A23B83E156E}"/>
              </a:ext>
            </a:extLst>
          </p:cNvPr>
          <p:cNvSpPr txBox="1"/>
          <p:nvPr/>
        </p:nvSpPr>
        <p:spPr>
          <a:xfrm>
            <a:off x="8440432" y="1788695"/>
            <a:ext cx="1072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Test  file</a:t>
            </a:r>
            <a:endParaRPr lang="ko-KR" altLang="en-US" sz="2800" spc="-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624" y="2446712"/>
            <a:ext cx="4188823" cy="273396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807" y="2484730"/>
            <a:ext cx="4442690" cy="270749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941" y="5610842"/>
            <a:ext cx="5028098" cy="74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69135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46E572-061A-4F66-860A-EA1641AD3DE2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1765C-E4E1-440B-B3F6-AD127EB533CF}"/>
              </a:ext>
            </a:extLst>
          </p:cNvPr>
          <p:cNvSpPr txBox="1"/>
          <p:nvPr/>
        </p:nvSpPr>
        <p:spPr>
          <a:xfrm>
            <a:off x="875104" y="101916"/>
            <a:ext cx="44005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bg1"/>
                </a:solidFill>
              </a:rPr>
              <a:t>탐색적 자료 분석 </a:t>
            </a:r>
            <a:r>
              <a:rPr lang="en-US" altLang="ko-KR" sz="3600" spc="-300" dirty="0" smtClean="0">
                <a:solidFill>
                  <a:schemeClr val="bg1"/>
                </a:solidFill>
              </a:rPr>
              <a:t>(EDA)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77FB6-6DE1-44E4-8EF8-7160153CD120}"/>
              </a:ext>
            </a:extLst>
          </p:cNvPr>
          <p:cNvSpPr txBox="1"/>
          <p:nvPr/>
        </p:nvSpPr>
        <p:spPr>
          <a:xfrm>
            <a:off x="132080" y="117305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</a:t>
            </a:r>
            <a:r>
              <a:rPr lang="en-US" altLang="ko-KR" sz="1400" dirty="0" smtClean="0">
                <a:solidFill>
                  <a:schemeClr val="bg1"/>
                </a:solidFill>
              </a:rPr>
              <a:t>1,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BCC2A94-3B7C-40CD-85CA-3396D49AB7DB}"/>
              </a:ext>
            </a:extLst>
          </p:cNvPr>
          <p:cNvSpPr/>
          <p:nvPr/>
        </p:nvSpPr>
        <p:spPr>
          <a:xfrm>
            <a:off x="481567" y="1495581"/>
            <a:ext cx="5413594" cy="4911323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03DF181-F5FC-4296-804F-A14ADC41E677}"/>
              </a:ext>
            </a:extLst>
          </p:cNvPr>
          <p:cNvSpPr/>
          <p:nvPr/>
        </p:nvSpPr>
        <p:spPr>
          <a:xfrm>
            <a:off x="6314157" y="1495581"/>
            <a:ext cx="5396276" cy="4911321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6228D44-9A46-445D-B8E2-218436356BD1}"/>
              </a:ext>
            </a:extLst>
          </p:cNvPr>
          <p:cNvSpPr/>
          <p:nvPr/>
        </p:nvSpPr>
        <p:spPr>
          <a:xfrm>
            <a:off x="709177" y="1708060"/>
            <a:ext cx="4980423" cy="6844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300"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5668D1-B06A-4F43-91C8-6A23B83E156E}"/>
              </a:ext>
            </a:extLst>
          </p:cNvPr>
          <p:cNvSpPr txBox="1"/>
          <p:nvPr/>
        </p:nvSpPr>
        <p:spPr>
          <a:xfrm>
            <a:off x="2419321" y="1788695"/>
            <a:ext cx="1449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Skim(train)</a:t>
            </a:r>
            <a:endParaRPr lang="ko-KR" altLang="en-US" sz="2800" spc="-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149840" y="6550429"/>
            <a:ext cx="2042160" cy="307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69" y="2730536"/>
            <a:ext cx="5194169" cy="334975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437" y="1628440"/>
            <a:ext cx="5035715" cy="454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5550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FB742AF-8DE1-4801-BAAB-FF7C033D40F3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B29B74-5530-431A-9A1D-6C360E5E40A6}"/>
              </a:ext>
            </a:extLst>
          </p:cNvPr>
          <p:cNvSpPr txBox="1"/>
          <p:nvPr/>
        </p:nvSpPr>
        <p:spPr>
          <a:xfrm>
            <a:off x="1647264" y="3105834"/>
            <a:ext cx="2800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bg1"/>
                </a:solidFill>
              </a:rPr>
              <a:t>데이터 시각화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6DC040-1911-4DE1-B7BA-8D50B20BC5F8}"/>
              </a:ext>
            </a:extLst>
          </p:cNvPr>
          <p:cNvSpPr txBox="1"/>
          <p:nvPr/>
        </p:nvSpPr>
        <p:spPr>
          <a:xfrm>
            <a:off x="904240" y="3121223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2,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9C7568C-DA98-40CE-9115-1F19853EEDF6}"/>
              </a:ext>
            </a:extLst>
          </p:cNvPr>
          <p:cNvCxnSpPr>
            <a:cxnSpLocks/>
          </p:cNvCxnSpPr>
          <p:nvPr/>
        </p:nvCxnSpPr>
        <p:spPr>
          <a:xfrm>
            <a:off x="904240" y="282313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2A7BF85-EFF0-4169-9F33-5B30AFBB9A2A}"/>
              </a:ext>
            </a:extLst>
          </p:cNvPr>
          <p:cNvCxnSpPr>
            <a:cxnSpLocks/>
          </p:cNvCxnSpPr>
          <p:nvPr/>
        </p:nvCxnSpPr>
        <p:spPr>
          <a:xfrm>
            <a:off x="904240" y="401185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295" y="0"/>
            <a:ext cx="60967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38508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46E572-061A-4F66-860A-EA1641AD3DE2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1765C-E4E1-440B-B3F6-AD127EB533CF}"/>
              </a:ext>
            </a:extLst>
          </p:cNvPr>
          <p:cNvSpPr txBox="1"/>
          <p:nvPr/>
        </p:nvSpPr>
        <p:spPr>
          <a:xfrm>
            <a:off x="875104" y="101916"/>
            <a:ext cx="28777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err="1" smtClean="0">
                <a:solidFill>
                  <a:schemeClr val="bg1"/>
                </a:solidFill>
              </a:rPr>
              <a:t>단변량</a:t>
            </a:r>
            <a:r>
              <a:rPr lang="ko-KR" altLang="en-US" sz="3600" spc="-300" dirty="0" smtClean="0">
                <a:solidFill>
                  <a:schemeClr val="bg1"/>
                </a:solidFill>
              </a:rPr>
              <a:t>  시각화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77FB6-6DE1-44E4-8EF8-7160153CD120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2,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25DEC-4F15-4754-B254-3D7F6BCAC00C}"/>
              </a:ext>
            </a:extLst>
          </p:cNvPr>
          <p:cNvSpPr txBox="1"/>
          <p:nvPr/>
        </p:nvSpPr>
        <p:spPr>
          <a:xfrm>
            <a:off x="875104" y="676096"/>
            <a:ext cx="4607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Arial Nova Light" panose="020B0304020202020204" pitchFamily="34" charset="0"/>
              </a:rPr>
              <a:t>각 개별적인 컬럼에 대해 시각화를 자동으로 할 수 있는 코드를 작성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6CD122-35AA-4195-BFCD-BA4841A128B6}"/>
              </a:ext>
            </a:extLst>
          </p:cNvPr>
          <p:cNvSpPr/>
          <p:nvPr/>
        </p:nvSpPr>
        <p:spPr>
          <a:xfrm>
            <a:off x="399062" y="1529413"/>
            <a:ext cx="5473418" cy="4997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7A4C3A7-6ADA-428A-BA2E-74DE174589AE}"/>
              </a:ext>
            </a:extLst>
          </p:cNvPr>
          <p:cNvSpPr/>
          <p:nvPr/>
        </p:nvSpPr>
        <p:spPr>
          <a:xfrm>
            <a:off x="6729613" y="2926659"/>
            <a:ext cx="742950" cy="3248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150" dirty="0" smtClean="0"/>
              <a:t>설명</a:t>
            </a:r>
            <a:endParaRPr lang="ko-KR" altLang="en-US" sz="1200" spc="-15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6DAC80-B469-4C32-88C1-EFBBA6F56ED3}"/>
              </a:ext>
            </a:extLst>
          </p:cNvPr>
          <p:cNvSpPr txBox="1"/>
          <p:nvPr/>
        </p:nvSpPr>
        <p:spPr>
          <a:xfrm>
            <a:off x="7632586" y="2821884"/>
            <a:ext cx="413747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+mj-ea"/>
                <a:ea typeface="+mj-ea"/>
              </a:rPr>
              <a:t>대출 지원자의 성별은 </a:t>
            </a:r>
            <a:r>
              <a:rPr lang="ko-KR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남성</a:t>
            </a:r>
            <a:r>
              <a:rPr lang="ko-KR" altLang="en-US" sz="1200" dirty="0" smtClean="0">
                <a:latin typeface="+mj-ea"/>
                <a:ea typeface="+mj-ea"/>
              </a:rPr>
              <a:t>이 여성보다 </a:t>
            </a:r>
            <a:r>
              <a:rPr lang="ko-KR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많음</a:t>
            </a:r>
            <a:endParaRPr lang="en-US" altLang="ko-KR" sz="12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+mj-ea"/>
                <a:ea typeface="+mj-ea"/>
              </a:rPr>
              <a:t>대출 지원자의 결혼 유무는 </a:t>
            </a:r>
            <a:r>
              <a:rPr lang="ko-KR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기혼자</a:t>
            </a:r>
            <a:r>
              <a:rPr lang="ko-KR" altLang="en-US" sz="1200" dirty="0" smtClean="0">
                <a:latin typeface="+mj-ea"/>
                <a:ea typeface="+mj-ea"/>
              </a:rPr>
              <a:t>가 더 </a:t>
            </a:r>
            <a:r>
              <a:rPr lang="ko-KR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많음</a:t>
            </a:r>
            <a:endParaRPr lang="en-US" altLang="ko-KR" sz="12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+mj-ea"/>
                <a:ea typeface="+mj-ea"/>
              </a:rPr>
              <a:t>대출 지원자 중 상당수는 </a:t>
            </a:r>
            <a:r>
              <a:rPr lang="ko-KR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자녀</a:t>
            </a:r>
            <a:r>
              <a:rPr lang="ko-KR" altLang="en-US" sz="1200" dirty="0" smtClean="0">
                <a:latin typeface="+mj-ea"/>
                <a:ea typeface="+mj-ea"/>
              </a:rPr>
              <a:t>가</a:t>
            </a:r>
            <a:r>
              <a:rPr lang="ko-KR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 없음</a:t>
            </a:r>
            <a:endParaRPr lang="en-US" altLang="ko-KR" sz="12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+mj-ea"/>
                <a:ea typeface="+mj-ea"/>
              </a:rPr>
              <a:t>대출 지원자 중 상당수는 </a:t>
            </a:r>
            <a:r>
              <a:rPr lang="ko-KR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대학</a:t>
            </a:r>
            <a:r>
              <a:rPr lang="ko-KR" altLang="en-US" sz="1200" dirty="0" smtClean="0">
                <a:latin typeface="+mj-ea"/>
                <a:ea typeface="+mj-ea"/>
              </a:rPr>
              <a:t>을 졸업했고</a:t>
            </a:r>
            <a:r>
              <a:rPr lang="en-US" altLang="ko-KR" sz="1200" dirty="0" smtClean="0">
                <a:latin typeface="+mj-ea"/>
                <a:ea typeface="+mj-ea"/>
              </a:rPr>
              <a:t>, self-employed</a:t>
            </a:r>
            <a:r>
              <a:rPr lang="ko-KR" altLang="en-US" sz="1200" dirty="0" smtClean="0">
                <a:latin typeface="+mj-ea"/>
                <a:ea typeface="+mj-ea"/>
              </a:rPr>
              <a:t>가 아님</a:t>
            </a:r>
            <a:endParaRPr lang="en-US" altLang="ko-KR" sz="1200" dirty="0">
              <a:latin typeface="+mj-ea"/>
              <a:ea typeface="+mj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+mj-ea"/>
                <a:ea typeface="+mj-ea"/>
              </a:rPr>
              <a:t>대출 지원자의 수입은 </a:t>
            </a:r>
            <a:r>
              <a:rPr lang="en-US" altLang="ko-KR" sz="1200" dirty="0" smtClean="0">
                <a:solidFill>
                  <a:srgbClr val="FF0000"/>
                </a:solidFill>
                <a:latin typeface="+mj-ea"/>
                <a:ea typeface="+mj-ea"/>
              </a:rPr>
              <a:t>right skewed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smtClean="0">
                <a:latin typeface="+mj-ea"/>
                <a:ea typeface="+mj-ea"/>
              </a:rPr>
              <a:t>Co-applicant</a:t>
            </a:r>
            <a:r>
              <a:rPr lang="ko-KR" altLang="en-US" sz="1200" dirty="0" smtClean="0">
                <a:latin typeface="+mj-ea"/>
                <a:ea typeface="+mj-ea"/>
              </a:rPr>
              <a:t>의 수입도 </a:t>
            </a:r>
            <a:r>
              <a:rPr lang="en-US" altLang="ko-KR" sz="1200" dirty="0" smtClean="0">
                <a:solidFill>
                  <a:srgbClr val="FF0000"/>
                </a:solidFill>
                <a:latin typeface="+mj-ea"/>
                <a:ea typeface="+mj-ea"/>
              </a:rPr>
              <a:t>right skewed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+mj-ea"/>
                <a:ea typeface="+mj-ea"/>
              </a:rPr>
              <a:t>대출 지원자중 약 </a:t>
            </a:r>
            <a:r>
              <a:rPr lang="en-US" altLang="ko-KR" sz="1200" dirty="0" smtClean="0">
                <a:solidFill>
                  <a:srgbClr val="FF0000"/>
                </a:solidFill>
                <a:latin typeface="+mj-ea"/>
                <a:ea typeface="+mj-ea"/>
              </a:rPr>
              <a:t>2/3</a:t>
            </a:r>
            <a:r>
              <a:rPr lang="ko-KR" altLang="en-US" sz="1200" dirty="0" smtClean="0">
                <a:latin typeface="+mj-ea"/>
                <a:ea typeface="+mj-ea"/>
              </a:rPr>
              <a:t>는 대출 승인을 받음</a:t>
            </a:r>
            <a:endParaRPr lang="en-US" altLang="ko-KR" sz="1200" dirty="0">
              <a:latin typeface="+mj-ea"/>
              <a:ea typeface="+mj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0149840" y="6550429"/>
            <a:ext cx="2042160" cy="307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23" y="1895475"/>
            <a:ext cx="5260434" cy="445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27460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46E572-061A-4F66-860A-EA1641AD3DE2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1765C-E4E1-440B-B3F6-AD127EB533CF}"/>
              </a:ext>
            </a:extLst>
          </p:cNvPr>
          <p:cNvSpPr txBox="1"/>
          <p:nvPr/>
        </p:nvSpPr>
        <p:spPr>
          <a:xfrm>
            <a:off x="875104" y="101916"/>
            <a:ext cx="3223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err="1">
                <a:solidFill>
                  <a:schemeClr val="bg1"/>
                </a:solidFill>
              </a:rPr>
              <a:t>양</a:t>
            </a:r>
            <a:r>
              <a:rPr lang="ko-KR" altLang="en-US" sz="3600" spc="-300" dirty="0" err="1" smtClean="0">
                <a:solidFill>
                  <a:schemeClr val="bg1"/>
                </a:solidFill>
              </a:rPr>
              <a:t>적변수</a:t>
            </a:r>
            <a:r>
              <a:rPr lang="ko-KR" altLang="en-US" sz="3600" spc="-300" dirty="0" smtClean="0">
                <a:solidFill>
                  <a:schemeClr val="bg1"/>
                </a:solidFill>
              </a:rPr>
              <a:t> 시각화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77FB6-6DE1-44E4-8EF8-7160153CD120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2,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25DEC-4F15-4754-B254-3D7F6BCAC00C}"/>
              </a:ext>
            </a:extLst>
          </p:cNvPr>
          <p:cNvSpPr txBox="1"/>
          <p:nvPr/>
        </p:nvSpPr>
        <p:spPr>
          <a:xfrm>
            <a:off x="875104" y="676096"/>
            <a:ext cx="18453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solidFill>
                  <a:schemeClr val="bg1"/>
                </a:solidFill>
                <a:latin typeface="Arial Nova Light" panose="020B0304020202020204" pitchFamily="34" charset="0"/>
              </a:rPr>
              <a:t>관계성을 확인하기에 용이</a:t>
            </a:r>
            <a:endParaRPr lang="ko-KR" altLang="en-US" sz="1100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6CD122-35AA-4195-BFCD-BA4841A128B6}"/>
              </a:ext>
            </a:extLst>
          </p:cNvPr>
          <p:cNvSpPr/>
          <p:nvPr/>
        </p:nvSpPr>
        <p:spPr>
          <a:xfrm>
            <a:off x="399062" y="1529413"/>
            <a:ext cx="5473418" cy="4997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7A4C3A7-6ADA-428A-BA2E-74DE174589AE}"/>
              </a:ext>
            </a:extLst>
          </p:cNvPr>
          <p:cNvSpPr/>
          <p:nvPr/>
        </p:nvSpPr>
        <p:spPr>
          <a:xfrm>
            <a:off x="6729613" y="2926659"/>
            <a:ext cx="742950" cy="3248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150" dirty="0" smtClean="0"/>
              <a:t>설명</a:t>
            </a:r>
            <a:endParaRPr lang="ko-KR" altLang="en-US" sz="1200" spc="-150" dirty="0"/>
          </a:p>
        </p:txBody>
      </p:sp>
      <p:sp>
        <p:nvSpPr>
          <p:cNvPr id="19" name="직사각형 18"/>
          <p:cNvSpPr/>
          <p:nvPr/>
        </p:nvSpPr>
        <p:spPr>
          <a:xfrm>
            <a:off x="10149840" y="6550429"/>
            <a:ext cx="2042160" cy="307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27" y="1573454"/>
            <a:ext cx="4839688" cy="49098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16DAC80-B469-4C32-88C1-EFBBA6F56ED3}"/>
              </a:ext>
            </a:extLst>
          </p:cNvPr>
          <p:cNvSpPr txBox="1"/>
          <p:nvPr/>
        </p:nvSpPr>
        <p:spPr>
          <a:xfrm>
            <a:off x="7632585" y="2821884"/>
            <a:ext cx="437843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 err="1" smtClean="0">
                <a:latin typeface="+mj-ea"/>
                <a:ea typeface="+mj-ea"/>
              </a:rPr>
              <a:t>Loan_Amount</a:t>
            </a:r>
            <a:r>
              <a:rPr lang="en-US" altLang="ko-KR" dirty="0" smtClean="0">
                <a:latin typeface="+mj-ea"/>
                <a:ea typeface="+mj-ea"/>
              </a:rPr>
              <a:t> </a:t>
            </a:r>
            <a:r>
              <a:rPr lang="ko-KR" altLang="en-US" dirty="0" smtClean="0">
                <a:latin typeface="+mj-ea"/>
                <a:ea typeface="+mj-ea"/>
              </a:rPr>
              <a:t>와 </a:t>
            </a:r>
            <a:r>
              <a:rPr lang="en-US" altLang="ko-KR" b="1" dirty="0" err="1" smtClean="0">
                <a:latin typeface="+mj-ea"/>
                <a:ea typeface="+mj-ea"/>
              </a:rPr>
              <a:t>Applicant_income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200000"/>
              </a:lnSpc>
            </a:pPr>
            <a:r>
              <a:rPr lang="ko-KR" altLang="en-US" sz="2800" dirty="0" smtClean="0">
                <a:latin typeface="+mj-ea"/>
                <a:ea typeface="+mj-ea"/>
              </a:rPr>
              <a:t> </a:t>
            </a:r>
            <a:r>
              <a:rPr lang="ko-KR" altLang="en-US" sz="2800" dirty="0" smtClean="0">
                <a:solidFill>
                  <a:srgbClr val="FF0000"/>
                </a:solidFill>
                <a:latin typeface="+mj-ea"/>
                <a:ea typeface="+mj-ea"/>
              </a:rPr>
              <a:t>상관관계</a:t>
            </a:r>
            <a:r>
              <a:rPr lang="ko-KR" altLang="en-US" sz="2800" dirty="0" smtClean="0">
                <a:latin typeface="+mj-ea"/>
                <a:ea typeface="+mj-ea"/>
              </a:rPr>
              <a:t>가 가장 큼</a:t>
            </a:r>
            <a:endParaRPr lang="en-US" altLang="ko-KR" sz="2800" dirty="0">
              <a:latin typeface="+mj-ea"/>
              <a:ea typeface="+mj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677688" y="2727441"/>
            <a:ext cx="790575" cy="328407"/>
          </a:xfrm>
          <a:prstGeom prst="rect">
            <a:avLst/>
          </a:prstGeom>
          <a:noFill/>
          <a:ln w="3175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40451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46E572-061A-4F66-860A-EA1641AD3DE2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1765C-E4E1-440B-B3F6-AD127EB533CF}"/>
              </a:ext>
            </a:extLst>
          </p:cNvPr>
          <p:cNvSpPr txBox="1"/>
          <p:nvPr/>
        </p:nvSpPr>
        <p:spPr>
          <a:xfrm>
            <a:off x="875104" y="101916"/>
            <a:ext cx="3223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err="1" smtClean="0">
                <a:solidFill>
                  <a:schemeClr val="bg1"/>
                </a:solidFill>
              </a:rPr>
              <a:t>질적변수</a:t>
            </a:r>
            <a:r>
              <a:rPr lang="ko-KR" altLang="en-US" sz="3600" spc="-300" dirty="0" smtClean="0">
                <a:solidFill>
                  <a:schemeClr val="bg1"/>
                </a:solidFill>
              </a:rPr>
              <a:t> 시각화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77FB6-6DE1-44E4-8EF8-7160153CD120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2,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25DEC-4F15-4754-B254-3D7F6BCAC00C}"/>
              </a:ext>
            </a:extLst>
          </p:cNvPr>
          <p:cNvSpPr txBox="1"/>
          <p:nvPr/>
        </p:nvSpPr>
        <p:spPr>
          <a:xfrm>
            <a:off x="875104" y="676096"/>
            <a:ext cx="1226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Arial Nova Light" panose="020B0304020202020204" pitchFamily="34" charset="0"/>
              </a:rPr>
              <a:t>평균과 신뢰구간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6CD122-35AA-4195-BFCD-BA4841A128B6}"/>
              </a:ext>
            </a:extLst>
          </p:cNvPr>
          <p:cNvSpPr/>
          <p:nvPr/>
        </p:nvSpPr>
        <p:spPr>
          <a:xfrm>
            <a:off x="399062" y="1529413"/>
            <a:ext cx="5473418" cy="4997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7A4C3A7-6ADA-428A-BA2E-74DE174589AE}"/>
              </a:ext>
            </a:extLst>
          </p:cNvPr>
          <p:cNvSpPr/>
          <p:nvPr/>
        </p:nvSpPr>
        <p:spPr>
          <a:xfrm>
            <a:off x="6729613" y="2926659"/>
            <a:ext cx="742950" cy="3248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150" dirty="0" smtClean="0"/>
              <a:t>설명</a:t>
            </a:r>
            <a:endParaRPr lang="ko-KR" altLang="en-US" sz="1200" spc="-150" dirty="0"/>
          </a:p>
        </p:txBody>
      </p:sp>
      <p:sp>
        <p:nvSpPr>
          <p:cNvPr id="19" name="직사각형 18"/>
          <p:cNvSpPr/>
          <p:nvPr/>
        </p:nvSpPr>
        <p:spPr>
          <a:xfrm>
            <a:off x="10149840" y="6550429"/>
            <a:ext cx="2042160" cy="307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6DAC80-B469-4C32-88C1-EFBBA6F56ED3}"/>
              </a:ext>
            </a:extLst>
          </p:cNvPr>
          <p:cNvSpPr txBox="1"/>
          <p:nvPr/>
        </p:nvSpPr>
        <p:spPr>
          <a:xfrm>
            <a:off x="7632586" y="2821884"/>
            <a:ext cx="43689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smtClean="0">
                <a:latin typeface="+mj-ea"/>
                <a:ea typeface="+mj-ea"/>
              </a:rPr>
              <a:t> </a:t>
            </a:r>
            <a:r>
              <a:rPr lang="en-US" altLang="ko-KR" sz="1200" dirty="0" smtClean="0">
                <a:solidFill>
                  <a:srgbClr val="FF0000"/>
                </a:solidFill>
                <a:latin typeface="+mj-ea"/>
                <a:ea typeface="+mj-ea"/>
              </a:rPr>
              <a:t>Married</a:t>
            </a:r>
            <a:r>
              <a:rPr lang="en-US" altLang="ko-KR" sz="1200" dirty="0" smtClean="0">
                <a:latin typeface="+mj-ea"/>
                <a:ea typeface="+mj-ea"/>
              </a:rPr>
              <a:t> </a:t>
            </a:r>
            <a:r>
              <a:rPr lang="ko-KR" altLang="en-US" sz="1200" dirty="0" smtClean="0">
                <a:latin typeface="+mj-ea"/>
                <a:ea typeface="+mj-ea"/>
              </a:rPr>
              <a:t>지원자가 대출을 승인 받을 </a:t>
            </a:r>
            <a:r>
              <a:rPr lang="ko-KR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가능성</a:t>
            </a:r>
            <a:r>
              <a:rPr lang="ko-KR" altLang="en-US" sz="1200" dirty="0" smtClean="0">
                <a:latin typeface="+mj-ea"/>
                <a:ea typeface="+mj-ea"/>
              </a:rPr>
              <a:t>이 높음</a:t>
            </a:r>
            <a:endParaRPr lang="en-US" altLang="ko-KR" sz="1200" dirty="0" smtClean="0">
              <a:latin typeface="+mj-ea"/>
              <a:ea typeface="+mj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+mj-ea"/>
                <a:ea typeface="+mj-ea"/>
              </a:rPr>
              <a:t> </a:t>
            </a:r>
            <a:r>
              <a:rPr lang="ko-KR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대졸자</a:t>
            </a:r>
            <a:r>
              <a:rPr lang="ko-KR" altLang="en-US" sz="1200" dirty="0" smtClean="0">
                <a:latin typeface="+mj-ea"/>
                <a:ea typeface="+mj-ea"/>
              </a:rPr>
              <a:t>가 그렇지 않은 사람보다 대출을 승인 </a:t>
            </a:r>
            <a:r>
              <a:rPr lang="ko-KR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가능성 높음</a:t>
            </a:r>
            <a:endParaRPr lang="en-US" altLang="ko-KR" sz="12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+mj-ea"/>
                <a:ea typeface="+mj-ea"/>
              </a:rPr>
              <a:t> </a:t>
            </a:r>
            <a:r>
              <a:rPr lang="ko-KR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자녀</a:t>
            </a:r>
            <a:r>
              <a:rPr lang="ko-KR" altLang="en-US" sz="1200" dirty="0" smtClean="0">
                <a:latin typeface="+mj-ea"/>
                <a:ea typeface="+mj-ea"/>
              </a:rPr>
              <a:t>들 변수는 큰 영향 없음</a:t>
            </a:r>
            <a:endParaRPr lang="en-US" altLang="ko-KR" sz="1200" dirty="0" smtClean="0">
              <a:latin typeface="+mj-ea"/>
              <a:ea typeface="+mj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+mj-ea"/>
                <a:ea typeface="+mj-ea"/>
              </a:rPr>
              <a:t> </a:t>
            </a:r>
            <a:r>
              <a:rPr lang="ko-KR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여성</a:t>
            </a:r>
            <a:r>
              <a:rPr lang="ko-KR" altLang="en-US" sz="1200" dirty="0" smtClean="0">
                <a:latin typeface="+mj-ea"/>
                <a:ea typeface="+mj-ea"/>
              </a:rPr>
              <a:t> 신청자수는 변동성이 크나 </a:t>
            </a:r>
            <a:r>
              <a:rPr lang="ko-KR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남성</a:t>
            </a:r>
            <a:r>
              <a:rPr lang="ko-KR" altLang="en-US" sz="1200" dirty="0" smtClean="0">
                <a:latin typeface="+mj-ea"/>
                <a:ea typeface="+mj-ea"/>
              </a:rPr>
              <a:t>들은 작음</a:t>
            </a:r>
            <a:endParaRPr lang="en-US" altLang="ko-KR" sz="1200" dirty="0" smtClean="0">
              <a:latin typeface="+mj-ea"/>
              <a:ea typeface="+mj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smtClean="0">
                <a:latin typeface="+mj-ea"/>
                <a:ea typeface="+mj-ea"/>
              </a:rPr>
              <a:t> </a:t>
            </a:r>
            <a:r>
              <a:rPr lang="en-US" altLang="ko-KR" sz="1200" dirty="0" smtClean="0">
                <a:solidFill>
                  <a:srgbClr val="FF0000"/>
                </a:solidFill>
                <a:latin typeface="+mj-ea"/>
                <a:ea typeface="+mj-ea"/>
              </a:rPr>
              <a:t>Credit History</a:t>
            </a:r>
            <a:r>
              <a:rPr lang="ko-KR" altLang="en-US" sz="1200" dirty="0" smtClean="0">
                <a:latin typeface="+mj-ea"/>
                <a:ea typeface="+mj-ea"/>
              </a:rPr>
              <a:t>의 유무에 따라 매우 </a:t>
            </a:r>
            <a:r>
              <a:rPr lang="ko-KR" altLang="en-US" sz="1200" dirty="0" smtClean="0">
                <a:solidFill>
                  <a:srgbClr val="FF0000"/>
                </a:solidFill>
                <a:latin typeface="+mj-ea"/>
                <a:ea typeface="+mj-ea"/>
              </a:rPr>
              <a:t>큰 변동성</a:t>
            </a:r>
            <a:endParaRPr lang="en-US" altLang="ko-KR" sz="1200" dirty="0">
              <a:latin typeface="+mj-ea"/>
              <a:ea typeface="+mj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1703729"/>
            <a:ext cx="4914900" cy="466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5056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2F2024DE-C3DD-451D-B9C9-C4B0B54D438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FB742AF-8DE1-4801-BAAB-FF7C033D40F3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B29B74-5530-431A-9A1D-6C360E5E40A6}"/>
              </a:ext>
            </a:extLst>
          </p:cNvPr>
          <p:cNvSpPr txBox="1"/>
          <p:nvPr/>
        </p:nvSpPr>
        <p:spPr>
          <a:xfrm>
            <a:off x="1647264" y="3105834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bg1"/>
                </a:solidFill>
              </a:rPr>
              <a:t>모델 학습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6DC040-1911-4DE1-B7BA-8D50B20BC5F8}"/>
              </a:ext>
            </a:extLst>
          </p:cNvPr>
          <p:cNvSpPr txBox="1"/>
          <p:nvPr/>
        </p:nvSpPr>
        <p:spPr>
          <a:xfrm>
            <a:off x="904240" y="3121223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</a:t>
            </a:r>
            <a:r>
              <a:rPr lang="en-US" altLang="ko-KR" sz="1400" dirty="0" smtClean="0">
                <a:solidFill>
                  <a:schemeClr val="bg1"/>
                </a:solidFill>
              </a:rPr>
              <a:t>3,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9C7568C-DA98-40CE-9115-1F19853EEDF6}"/>
              </a:ext>
            </a:extLst>
          </p:cNvPr>
          <p:cNvCxnSpPr>
            <a:cxnSpLocks/>
          </p:cNvCxnSpPr>
          <p:nvPr/>
        </p:nvCxnSpPr>
        <p:spPr>
          <a:xfrm>
            <a:off x="904240" y="282313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2A7BF85-EFF0-4169-9F33-5B30AFBB9A2A}"/>
              </a:ext>
            </a:extLst>
          </p:cNvPr>
          <p:cNvCxnSpPr>
            <a:cxnSpLocks/>
          </p:cNvCxnSpPr>
          <p:nvPr/>
        </p:nvCxnSpPr>
        <p:spPr>
          <a:xfrm>
            <a:off x="904240" y="401185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83879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46E572-061A-4F66-860A-EA1641AD3DE2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1765C-E4E1-440B-B3F6-AD127EB533CF}"/>
              </a:ext>
            </a:extLst>
          </p:cNvPr>
          <p:cNvSpPr txBox="1"/>
          <p:nvPr/>
        </p:nvSpPr>
        <p:spPr>
          <a:xfrm>
            <a:off x="875104" y="101916"/>
            <a:ext cx="2377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bg1"/>
                </a:solidFill>
              </a:rPr>
              <a:t>데이터 분리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77FB6-6DE1-44E4-8EF8-7160153CD120}"/>
              </a:ext>
            </a:extLst>
          </p:cNvPr>
          <p:cNvSpPr txBox="1"/>
          <p:nvPr/>
        </p:nvSpPr>
        <p:spPr>
          <a:xfrm>
            <a:off x="132080" y="117305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</a:t>
            </a:r>
            <a:r>
              <a:rPr lang="en-US" altLang="ko-KR" sz="1400" dirty="0" smtClean="0">
                <a:solidFill>
                  <a:schemeClr val="bg1"/>
                </a:solidFill>
              </a:rPr>
              <a:t>3,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25DEC-4F15-4754-B254-3D7F6BCAC00C}"/>
              </a:ext>
            </a:extLst>
          </p:cNvPr>
          <p:cNvSpPr txBox="1"/>
          <p:nvPr/>
        </p:nvSpPr>
        <p:spPr>
          <a:xfrm>
            <a:off x="875104" y="676096"/>
            <a:ext cx="34628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solidFill>
                  <a:schemeClr val="bg1"/>
                </a:solidFill>
                <a:latin typeface="Arial Nova Light" panose="020B0304020202020204" pitchFamily="34" charset="0"/>
              </a:rPr>
              <a:t>층화추출기법</a:t>
            </a:r>
            <a:r>
              <a:rPr lang="en-US" altLang="ko-KR" sz="1100" dirty="0">
                <a:solidFill>
                  <a:schemeClr val="bg1"/>
                </a:solidFill>
                <a:latin typeface="Arial Nova Light" panose="020B0304020202020204" pitchFamily="34" charset="0"/>
              </a:rPr>
              <a:t>(Stratified Sampling)</a:t>
            </a:r>
            <a:r>
              <a:rPr lang="ko-KR" altLang="en-US" sz="1100" dirty="0" smtClean="0">
                <a:solidFill>
                  <a:schemeClr val="bg1"/>
                </a:solidFill>
                <a:latin typeface="Arial Nova Light" panose="020B0304020202020204" pitchFamily="34" charset="0"/>
              </a:rPr>
              <a:t>을 통한 데이터 분리</a:t>
            </a:r>
            <a:endParaRPr lang="ko-KR" altLang="en-US" sz="1100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0149840" y="6550429"/>
            <a:ext cx="2042160" cy="307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10AD75-0537-43C9-A65B-2285F22132BD}"/>
              </a:ext>
            </a:extLst>
          </p:cNvPr>
          <p:cNvSpPr txBox="1"/>
          <p:nvPr/>
        </p:nvSpPr>
        <p:spPr>
          <a:xfrm>
            <a:off x="339536" y="1264666"/>
            <a:ext cx="3760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pc="-300" dirty="0" err="1">
                <a:solidFill>
                  <a:srgbClr val="393939"/>
                </a:solidFill>
                <a:latin typeface="+mn-ea"/>
              </a:rPr>
              <a:t>층화추출</a:t>
            </a:r>
            <a:r>
              <a:rPr lang="en-US" altLang="ko-KR" sz="2400" spc="-300" dirty="0">
                <a:solidFill>
                  <a:srgbClr val="393939"/>
                </a:solidFill>
                <a:latin typeface="+mn-ea"/>
              </a:rPr>
              <a:t>(Stratified Sampling) </a:t>
            </a:r>
            <a:r>
              <a:rPr lang="ko-KR" altLang="en-US" sz="2400" spc="-300" dirty="0">
                <a:solidFill>
                  <a:srgbClr val="393939"/>
                </a:solidFill>
                <a:latin typeface="+mn-ea"/>
              </a:rPr>
              <a:t>방식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5E1FA96-17AB-4022-AD08-D003B776FB25}"/>
              </a:ext>
            </a:extLst>
          </p:cNvPr>
          <p:cNvSpPr/>
          <p:nvPr/>
        </p:nvSpPr>
        <p:spPr>
          <a:xfrm>
            <a:off x="132080" y="1261467"/>
            <a:ext cx="108000" cy="46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-1" y="2018589"/>
            <a:ext cx="105441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 smtClean="0">
                <a:latin typeface="+mn-ea"/>
              </a:rPr>
              <a:t>조사대상을 몇 개의 그룹으로 구분</a:t>
            </a:r>
            <a:endParaRPr lang="en-US" altLang="ko-KR" sz="3000" dirty="0" smtClean="0">
              <a:latin typeface="+mn-ea"/>
            </a:endParaRPr>
          </a:p>
          <a:p>
            <a:endParaRPr lang="en-US" altLang="ko-KR" sz="3000" dirty="0" smtClean="0">
              <a:latin typeface="+mn-ea"/>
            </a:endParaRPr>
          </a:p>
          <a:p>
            <a:r>
              <a:rPr lang="ko-KR" altLang="en-US" sz="3000" dirty="0" smtClean="0">
                <a:latin typeface="+mn-ea"/>
              </a:rPr>
              <a:t>각 그룹에서 무작위로 </a:t>
            </a:r>
            <a:r>
              <a:rPr lang="ko-KR" altLang="en-US" sz="3000" b="1" dirty="0" smtClean="0">
                <a:latin typeface="+mn-ea"/>
              </a:rPr>
              <a:t>표본</a:t>
            </a:r>
            <a:r>
              <a:rPr lang="ko-KR" altLang="en-US" sz="3000" dirty="0" smtClean="0">
                <a:latin typeface="+mn-ea"/>
              </a:rPr>
              <a:t>을 </a:t>
            </a:r>
            <a:r>
              <a:rPr lang="ko-KR" altLang="en-US" sz="3000" b="1" dirty="0" smtClean="0">
                <a:latin typeface="+mn-ea"/>
              </a:rPr>
              <a:t>추출</a:t>
            </a:r>
            <a:r>
              <a:rPr lang="ko-KR" altLang="en-US" sz="3000" dirty="0" smtClean="0">
                <a:latin typeface="+mn-ea"/>
              </a:rPr>
              <a:t>하는 방법</a:t>
            </a:r>
            <a:endParaRPr lang="en-US" altLang="ko-KR" sz="3000" dirty="0" smtClean="0">
              <a:latin typeface="+mn-ea"/>
            </a:endParaRPr>
          </a:p>
          <a:p>
            <a:endParaRPr lang="en-US" altLang="ko-KR" sz="3000" dirty="0" smtClean="0"/>
          </a:p>
          <a:p>
            <a:endParaRPr lang="en-US" altLang="ko-KR" sz="3000" dirty="0" smtClean="0"/>
          </a:p>
          <a:p>
            <a:endParaRPr lang="en-US" altLang="ko-KR" sz="3000" dirty="0" smtClean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3932876"/>
            <a:ext cx="8810624" cy="261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5583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46E572-061A-4F66-860A-EA1641AD3DE2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1765C-E4E1-440B-B3F6-AD127EB533CF}"/>
              </a:ext>
            </a:extLst>
          </p:cNvPr>
          <p:cNvSpPr txBox="1"/>
          <p:nvPr/>
        </p:nvSpPr>
        <p:spPr>
          <a:xfrm>
            <a:off x="875104" y="101916"/>
            <a:ext cx="2377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bg1"/>
                </a:solidFill>
              </a:rPr>
              <a:t>데이터 분리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77FB6-6DE1-44E4-8EF8-7160153CD120}"/>
              </a:ext>
            </a:extLst>
          </p:cNvPr>
          <p:cNvSpPr txBox="1"/>
          <p:nvPr/>
        </p:nvSpPr>
        <p:spPr>
          <a:xfrm>
            <a:off x="132080" y="117305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</a:t>
            </a:r>
            <a:r>
              <a:rPr lang="en-US" altLang="ko-KR" sz="1400" dirty="0" smtClean="0">
                <a:solidFill>
                  <a:schemeClr val="bg1"/>
                </a:solidFill>
              </a:rPr>
              <a:t>3,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25DEC-4F15-4754-B254-3D7F6BCAC00C}"/>
              </a:ext>
            </a:extLst>
          </p:cNvPr>
          <p:cNvSpPr txBox="1"/>
          <p:nvPr/>
        </p:nvSpPr>
        <p:spPr>
          <a:xfrm>
            <a:off x="875104" y="676096"/>
            <a:ext cx="34628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solidFill>
                  <a:schemeClr val="bg1"/>
                </a:solidFill>
                <a:latin typeface="Arial Nova Light" panose="020B0304020202020204" pitchFamily="34" charset="0"/>
              </a:rPr>
              <a:t>층화추출기법</a:t>
            </a:r>
            <a:r>
              <a:rPr lang="en-US" altLang="ko-KR" sz="1100" dirty="0">
                <a:solidFill>
                  <a:schemeClr val="bg1"/>
                </a:solidFill>
                <a:latin typeface="Arial Nova Light" panose="020B0304020202020204" pitchFamily="34" charset="0"/>
              </a:rPr>
              <a:t>(Stratified Sampling)</a:t>
            </a:r>
            <a:r>
              <a:rPr lang="ko-KR" altLang="en-US" sz="1100" dirty="0" smtClean="0">
                <a:solidFill>
                  <a:schemeClr val="bg1"/>
                </a:solidFill>
                <a:latin typeface="Arial Nova Light" panose="020B0304020202020204" pitchFamily="34" charset="0"/>
              </a:rPr>
              <a:t>을 통한 데이터 분리</a:t>
            </a:r>
            <a:endParaRPr lang="ko-KR" altLang="en-US" sz="1100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0149840" y="6550429"/>
            <a:ext cx="2042160" cy="307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10AD75-0537-43C9-A65B-2285F22132BD}"/>
              </a:ext>
            </a:extLst>
          </p:cNvPr>
          <p:cNvSpPr txBox="1"/>
          <p:nvPr/>
        </p:nvSpPr>
        <p:spPr>
          <a:xfrm>
            <a:off x="339536" y="1264666"/>
            <a:ext cx="3760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pc="-300" dirty="0" err="1">
                <a:solidFill>
                  <a:srgbClr val="393939"/>
                </a:solidFill>
                <a:latin typeface="+mn-ea"/>
              </a:rPr>
              <a:t>층화추출</a:t>
            </a:r>
            <a:r>
              <a:rPr lang="en-US" altLang="ko-KR" sz="2400" spc="-300" dirty="0">
                <a:solidFill>
                  <a:srgbClr val="393939"/>
                </a:solidFill>
                <a:latin typeface="+mn-ea"/>
              </a:rPr>
              <a:t>(Stratified Sampling) </a:t>
            </a:r>
            <a:r>
              <a:rPr lang="ko-KR" altLang="en-US" sz="2400" spc="-300" dirty="0">
                <a:solidFill>
                  <a:srgbClr val="393939"/>
                </a:solidFill>
                <a:latin typeface="+mn-ea"/>
              </a:rPr>
              <a:t>방식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5E1FA96-17AB-4022-AD08-D003B776FB25}"/>
              </a:ext>
            </a:extLst>
          </p:cNvPr>
          <p:cNvSpPr/>
          <p:nvPr/>
        </p:nvSpPr>
        <p:spPr>
          <a:xfrm>
            <a:off x="132080" y="1261467"/>
            <a:ext cx="108000" cy="46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40A4140-46C4-4B11-8F9B-A427C857D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180152"/>
              </p:ext>
            </p:extLst>
          </p:nvPr>
        </p:nvGraphicFramePr>
        <p:xfrm>
          <a:off x="1800225" y="1914037"/>
          <a:ext cx="8591550" cy="49439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95775">
                  <a:extLst>
                    <a:ext uri="{9D8B030D-6E8A-4147-A177-3AD203B41FA5}">
                      <a16:colId xmlns:a16="http://schemas.microsoft.com/office/drawing/2014/main" val="2748037351"/>
                    </a:ext>
                  </a:extLst>
                </a:gridCol>
                <a:gridCol w="4295775">
                  <a:extLst>
                    <a:ext uri="{9D8B030D-6E8A-4147-A177-3AD203B41FA5}">
                      <a16:colId xmlns:a16="http://schemas.microsoft.com/office/drawing/2014/main" val="820828031"/>
                    </a:ext>
                  </a:extLst>
                </a:gridCol>
              </a:tblGrid>
              <a:tr h="1012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장점</a:t>
                      </a:r>
                      <a:endParaRPr lang="ko-KR" altLang="en-US" sz="24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단점</a:t>
                      </a:r>
                      <a:endParaRPr lang="ko-KR" altLang="en-US" sz="240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3200"/>
                  </a:ext>
                </a:extLst>
              </a:tr>
              <a:tr h="1012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pc="-150" dirty="0" smtClean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모집단의 대표성 보장</a:t>
                      </a:r>
                      <a:endParaRPr lang="ko-KR" altLang="en-US" sz="2200" spc="-150" dirty="0">
                        <a:solidFill>
                          <a:srgbClr val="40474D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pc="-150" dirty="0" smtClean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모집단에서 층으로 </a:t>
                      </a:r>
                      <a:r>
                        <a:rPr lang="ko-KR" altLang="en-US" sz="2200" spc="-150" dirty="0" err="1" smtClean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분리할때</a:t>
                      </a:r>
                      <a:r>
                        <a:rPr lang="ko-KR" altLang="en-US" sz="2200" spc="-150" dirty="0" smtClean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  각층에 대한 정확한 사전 정보 필요</a:t>
                      </a:r>
                      <a:endParaRPr lang="ko-KR" altLang="en-US" sz="2200" spc="-150" dirty="0">
                        <a:solidFill>
                          <a:srgbClr val="40474D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200448"/>
                  </a:ext>
                </a:extLst>
              </a:tr>
              <a:tr h="19058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pc="-150" dirty="0" smtClean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전체</a:t>
                      </a:r>
                      <a:r>
                        <a:rPr lang="ko-KR" altLang="en-US" sz="2200" spc="-150" baseline="0" dirty="0" smtClean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 모집단에서 층별로 구성</a:t>
                      </a:r>
                      <a:endParaRPr lang="en-US" altLang="ko-KR" sz="2200" spc="-150" baseline="0" dirty="0" smtClean="0">
                        <a:solidFill>
                          <a:srgbClr val="40474D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2200" spc="-150" baseline="0" dirty="0" smtClean="0">
                          <a:solidFill>
                            <a:srgbClr val="40474D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</a:p>
                    <a:p>
                      <a:pPr algn="ctr" latinLnBrk="1"/>
                      <a:r>
                        <a:rPr lang="ko-KR" altLang="en-US" sz="2200" spc="-150" baseline="0" dirty="0" smtClean="0">
                          <a:solidFill>
                            <a:srgbClr val="40474D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모집단 형성하는 모든 구성요소 포함</a:t>
                      </a:r>
                      <a:endParaRPr lang="en-US" altLang="ko-KR" sz="2200" spc="-150" baseline="0" dirty="0" smtClean="0">
                        <a:solidFill>
                          <a:srgbClr val="40474D"/>
                        </a:solidFill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  <a:p>
                      <a:pPr algn="ctr" latinLnBrk="1"/>
                      <a:endParaRPr lang="ko-KR" altLang="en-US" sz="2200" spc="-150" dirty="0">
                        <a:solidFill>
                          <a:srgbClr val="40474D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pc="-150" dirty="0" err="1" smtClean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층화가</a:t>
                      </a:r>
                      <a:r>
                        <a:rPr lang="ko-KR" altLang="en-US" sz="2200" spc="-150" dirty="0" smtClean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 너무 복잡할 경우 표본 오차가 큼</a:t>
                      </a:r>
                      <a:endParaRPr lang="ko-KR" altLang="en-US" sz="2200" spc="-150" dirty="0">
                        <a:solidFill>
                          <a:srgbClr val="40474D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358619"/>
                  </a:ext>
                </a:extLst>
              </a:tr>
              <a:tr h="1012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pc="-150" dirty="0" err="1" smtClean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층화표출을</a:t>
                      </a:r>
                      <a:r>
                        <a:rPr lang="ko-KR" altLang="en-US" sz="2200" spc="-150" dirty="0" smtClean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 통해 시간</a:t>
                      </a:r>
                      <a:r>
                        <a:rPr lang="en-US" altLang="ko-KR" sz="2200" spc="-150" dirty="0" smtClean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2200" spc="-150" dirty="0" smtClean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비용 절약</a:t>
                      </a:r>
                      <a:endParaRPr lang="ko-KR" altLang="en-US" sz="2200" spc="-150" dirty="0">
                        <a:solidFill>
                          <a:srgbClr val="40474D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spc="-150" dirty="0" smtClean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층을 명확히 구분하지 않을 경우 </a:t>
                      </a:r>
                      <a:endParaRPr lang="en-US" altLang="ko-KR" sz="2200" spc="-150" dirty="0" smtClean="0">
                        <a:solidFill>
                          <a:srgbClr val="40474D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2200" spc="-150" dirty="0" smtClean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불필요한 </a:t>
                      </a:r>
                      <a:r>
                        <a:rPr lang="ko-KR" altLang="en-US" sz="2200" spc="-150" dirty="0" err="1" smtClean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층화</a:t>
                      </a:r>
                      <a:r>
                        <a:rPr lang="ko-KR" altLang="en-US" sz="2200" spc="-150" dirty="0" smtClean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 추출</a:t>
                      </a:r>
                      <a:r>
                        <a:rPr lang="ko-KR" altLang="en-US" sz="2200" spc="-150" baseline="0" dirty="0" smtClean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 가능성</a:t>
                      </a:r>
                      <a:endParaRPr lang="ko-KR" altLang="en-US" sz="2200" spc="-150" dirty="0">
                        <a:solidFill>
                          <a:srgbClr val="40474D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396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164189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46E572-061A-4F66-860A-EA1641AD3DE2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1765C-E4E1-440B-B3F6-AD127EB533CF}"/>
              </a:ext>
            </a:extLst>
          </p:cNvPr>
          <p:cNvSpPr txBox="1"/>
          <p:nvPr/>
        </p:nvSpPr>
        <p:spPr>
          <a:xfrm>
            <a:off x="875104" y="101916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bg1"/>
                </a:solidFill>
              </a:rPr>
              <a:t>모델 개발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77FB6-6DE1-44E4-8EF8-7160153CD120}"/>
              </a:ext>
            </a:extLst>
          </p:cNvPr>
          <p:cNvSpPr txBox="1"/>
          <p:nvPr/>
        </p:nvSpPr>
        <p:spPr>
          <a:xfrm>
            <a:off x="132080" y="117305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</a:t>
            </a:r>
            <a:r>
              <a:rPr lang="en-US" altLang="ko-KR" sz="1400" dirty="0" smtClean="0">
                <a:solidFill>
                  <a:schemeClr val="bg1"/>
                </a:solidFill>
              </a:rPr>
              <a:t>3,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810CA6-A713-4155-9192-FA79527A7112}"/>
              </a:ext>
            </a:extLst>
          </p:cNvPr>
          <p:cNvSpPr/>
          <p:nvPr/>
        </p:nvSpPr>
        <p:spPr>
          <a:xfrm>
            <a:off x="904240" y="2190974"/>
            <a:ext cx="2041451" cy="3508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3C3C7BC-6C03-443B-B698-5E7176BEDFE9}"/>
              </a:ext>
            </a:extLst>
          </p:cNvPr>
          <p:cNvSpPr/>
          <p:nvPr/>
        </p:nvSpPr>
        <p:spPr>
          <a:xfrm>
            <a:off x="904240" y="2190972"/>
            <a:ext cx="2041451" cy="604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7296B0-0A58-4E5B-84C6-1B7686743AD4}"/>
              </a:ext>
            </a:extLst>
          </p:cNvPr>
          <p:cNvSpPr/>
          <p:nvPr/>
        </p:nvSpPr>
        <p:spPr>
          <a:xfrm>
            <a:off x="9179915" y="2190974"/>
            <a:ext cx="2041451" cy="3508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2FE9D9-197F-417D-B2FC-EEA3E6976D08}"/>
              </a:ext>
            </a:extLst>
          </p:cNvPr>
          <p:cNvSpPr/>
          <p:nvPr/>
        </p:nvSpPr>
        <p:spPr>
          <a:xfrm>
            <a:off x="3662798" y="2190974"/>
            <a:ext cx="2041451" cy="3508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715D77-986C-4578-B4C3-1995406A87FD}"/>
              </a:ext>
            </a:extLst>
          </p:cNvPr>
          <p:cNvSpPr/>
          <p:nvPr/>
        </p:nvSpPr>
        <p:spPr>
          <a:xfrm>
            <a:off x="6421356" y="2190974"/>
            <a:ext cx="2041451" cy="3508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6988E-2D8A-4342-8243-09A547E7D6EC}"/>
              </a:ext>
            </a:extLst>
          </p:cNvPr>
          <p:cNvSpPr txBox="1"/>
          <p:nvPr/>
        </p:nvSpPr>
        <p:spPr>
          <a:xfrm>
            <a:off x="3109318" y="3878174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n-ea"/>
              </a:rPr>
              <a:t>&gt;&gt;</a:t>
            </a:r>
            <a:endParaRPr lang="ko-KR" altLang="en-US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1B8E57-B6C0-426B-9C94-D341492FF2A8}"/>
              </a:ext>
            </a:extLst>
          </p:cNvPr>
          <p:cNvSpPr txBox="1"/>
          <p:nvPr/>
        </p:nvSpPr>
        <p:spPr>
          <a:xfrm>
            <a:off x="5883522" y="3878174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n-ea"/>
              </a:rPr>
              <a:t>&gt;&gt;</a:t>
            </a:r>
            <a:endParaRPr lang="ko-KR" altLang="en-US" dirty="0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D72D13-FFF4-441B-AC91-5C4F322B8D98}"/>
              </a:ext>
            </a:extLst>
          </p:cNvPr>
          <p:cNvSpPr txBox="1"/>
          <p:nvPr/>
        </p:nvSpPr>
        <p:spPr>
          <a:xfrm>
            <a:off x="8610782" y="3878174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n-ea"/>
              </a:rPr>
              <a:t>&gt;&gt;</a:t>
            </a:r>
            <a:endParaRPr lang="ko-KR" altLang="en-US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991FFF-2406-4D88-A105-687CD64C8FC8}"/>
              </a:ext>
            </a:extLst>
          </p:cNvPr>
          <p:cNvSpPr txBox="1"/>
          <p:nvPr/>
        </p:nvSpPr>
        <p:spPr>
          <a:xfrm>
            <a:off x="1439991" y="2305945"/>
            <a:ext cx="93884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STEP 1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66E16B7-8F4A-40EC-8A94-87732325C658}"/>
              </a:ext>
            </a:extLst>
          </p:cNvPr>
          <p:cNvSpPr/>
          <p:nvPr/>
        </p:nvSpPr>
        <p:spPr>
          <a:xfrm>
            <a:off x="3662797" y="2190972"/>
            <a:ext cx="2041451" cy="604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CBDC6E-AA71-4F89-8218-BCFA028919D9}"/>
              </a:ext>
            </a:extLst>
          </p:cNvPr>
          <p:cNvSpPr txBox="1"/>
          <p:nvPr/>
        </p:nvSpPr>
        <p:spPr>
          <a:xfrm>
            <a:off x="4221792" y="2305945"/>
            <a:ext cx="93884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STEP 2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F692817-7443-4E95-9B0C-FFD278BFB24F}"/>
              </a:ext>
            </a:extLst>
          </p:cNvPr>
          <p:cNvSpPr/>
          <p:nvPr/>
        </p:nvSpPr>
        <p:spPr>
          <a:xfrm>
            <a:off x="6421354" y="2190972"/>
            <a:ext cx="2041451" cy="604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AEDC52-367C-4DE7-8843-065F66A06654}"/>
              </a:ext>
            </a:extLst>
          </p:cNvPr>
          <p:cNvSpPr txBox="1"/>
          <p:nvPr/>
        </p:nvSpPr>
        <p:spPr>
          <a:xfrm>
            <a:off x="6981150" y="2305945"/>
            <a:ext cx="93884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STEP 3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56A1E6F-2CBA-485B-9E68-BC92ECBF5530}"/>
              </a:ext>
            </a:extLst>
          </p:cNvPr>
          <p:cNvSpPr/>
          <p:nvPr/>
        </p:nvSpPr>
        <p:spPr>
          <a:xfrm>
            <a:off x="9179911" y="2190972"/>
            <a:ext cx="2041451" cy="604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F030968-735E-4DEA-B1BD-64EA306F9913}"/>
              </a:ext>
            </a:extLst>
          </p:cNvPr>
          <p:cNvSpPr txBox="1"/>
          <p:nvPr/>
        </p:nvSpPr>
        <p:spPr>
          <a:xfrm>
            <a:off x="9731479" y="2305945"/>
            <a:ext cx="93884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STEP 4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590AC4-2998-482E-AB5A-9B18F7E09B2C}"/>
              </a:ext>
            </a:extLst>
          </p:cNvPr>
          <p:cNvSpPr txBox="1"/>
          <p:nvPr/>
        </p:nvSpPr>
        <p:spPr>
          <a:xfrm>
            <a:off x="1146590" y="2910223"/>
            <a:ext cx="1682895" cy="264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모델 개발</a:t>
            </a:r>
            <a:endParaRPr lang="en-US" altLang="ko-KR" sz="20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just">
              <a:lnSpc>
                <a:spcPct val="120000"/>
              </a:lnSpc>
            </a:pPr>
            <a:endParaRPr lang="en-US" altLang="ko-KR" sz="20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분류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모형 개발</a:t>
            </a:r>
            <a:endParaRPr lang="en-US" altLang="ko-KR" sz="14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logistic</a:t>
            </a:r>
          </a:p>
          <a:p>
            <a:pPr algn="just">
              <a:lnSpc>
                <a:spcPct val="120000"/>
              </a:lnSpc>
            </a:pP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decision tree</a:t>
            </a:r>
          </a:p>
          <a:p>
            <a:pPr algn="just">
              <a:lnSpc>
                <a:spcPct val="120000"/>
              </a:lnSpc>
            </a:pP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random forest</a:t>
            </a:r>
          </a:p>
          <a:p>
            <a:pPr algn="just">
              <a:lnSpc>
                <a:spcPct val="120000"/>
              </a:lnSpc>
            </a:pPr>
            <a:r>
              <a:rPr lang="en-US" altLang="ko-KR" sz="1400" spc="-1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Xgboost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</a:p>
          <a:p>
            <a:pPr algn="just">
              <a:lnSpc>
                <a:spcPct val="120000"/>
              </a:lnSpc>
            </a:pP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총 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개의 모델</a:t>
            </a:r>
            <a:endParaRPr lang="en-US" altLang="ko-KR" sz="14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just">
              <a:lnSpc>
                <a:spcPct val="120000"/>
              </a:lnSpc>
            </a:pPr>
            <a:endParaRPr lang="ko-KR" altLang="en-US" sz="14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69094AF-D568-4C9C-A689-126322E4A26D}"/>
              </a:ext>
            </a:extLst>
          </p:cNvPr>
          <p:cNvSpPr txBox="1"/>
          <p:nvPr/>
        </p:nvSpPr>
        <p:spPr>
          <a:xfrm>
            <a:off x="3897013" y="2806937"/>
            <a:ext cx="1682895" cy="2973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Feature </a:t>
            </a:r>
            <a:r>
              <a:rPr lang="en-US" altLang="ko-KR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Engineering</a:t>
            </a:r>
          </a:p>
          <a:p>
            <a:pPr algn="just">
              <a:lnSpc>
                <a:spcPct val="120000"/>
              </a:lnSpc>
            </a:pPr>
            <a:endParaRPr lang="en-US" altLang="ko-KR" sz="2000" b="1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200" spc="-1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Tidymodels</a:t>
            </a:r>
            <a:r>
              <a:rPr lang="ko-KR" altLang="en-US" sz="1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에서는  </a:t>
            </a:r>
            <a:r>
              <a:rPr lang="en-US" altLang="ko-KR" sz="1200" spc="-1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Feauture</a:t>
            </a:r>
            <a:r>
              <a:rPr lang="en-US" altLang="ko-KR" sz="1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Engineering</a:t>
            </a:r>
            <a:r>
              <a:rPr lang="ko-KR" altLang="en-US" sz="1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을 </a:t>
            </a:r>
            <a:r>
              <a:rPr lang="ko-KR" altLang="en-US" sz="1200" spc="-1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사용하기위</a:t>
            </a:r>
            <a:r>
              <a:rPr lang="ko-KR" altLang="en-US" sz="1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해 </a:t>
            </a:r>
            <a:r>
              <a:rPr lang="en-US" altLang="ko-KR" sz="1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recipe </a:t>
            </a:r>
            <a:r>
              <a:rPr lang="ko-KR" altLang="en-US" sz="1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함수 사용</a:t>
            </a:r>
            <a:endParaRPr lang="en-US" altLang="ko-KR" sz="12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just">
              <a:lnSpc>
                <a:spcPct val="120000"/>
              </a:lnSpc>
            </a:pPr>
            <a:endParaRPr lang="en-US" altLang="ko-KR" sz="12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200" spc="-1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결측치</a:t>
            </a:r>
            <a:r>
              <a:rPr lang="ko-KR" altLang="en-US" sz="1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처리를 위해 </a:t>
            </a:r>
            <a:r>
              <a:rPr lang="en-US" altLang="ko-KR" sz="1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bagged  tree  models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en-US" altLang="ko-KR" sz="12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impute_mean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 </a:t>
            </a:r>
            <a:r>
              <a:rPr lang="en-US" altLang="ko-KR" sz="1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en-US" altLang="ko-KR" sz="1200" spc="-1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impute_node</a:t>
            </a:r>
            <a:r>
              <a:rPr lang="en-US" altLang="ko-KR" sz="1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등을 </a:t>
            </a:r>
            <a:r>
              <a:rPr lang="ko-KR" altLang="en-US" sz="1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사용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1308A5-35A1-412A-A7B4-4D65265489BE}"/>
              </a:ext>
            </a:extLst>
          </p:cNvPr>
          <p:cNvSpPr txBox="1"/>
          <p:nvPr/>
        </p:nvSpPr>
        <p:spPr>
          <a:xfrm>
            <a:off x="6687555" y="2806937"/>
            <a:ext cx="1682895" cy="2825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Correlation Graph</a:t>
            </a:r>
          </a:p>
          <a:p>
            <a:pPr algn="just">
              <a:lnSpc>
                <a:spcPct val="120000"/>
              </a:lnSpc>
            </a:pPr>
            <a:endParaRPr lang="en-US" altLang="ko-KR" sz="20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1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상관관계그래프 작성</a:t>
            </a:r>
            <a:endParaRPr lang="en-US" altLang="ko-KR" sz="12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just">
              <a:lnSpc>
                <a:spcPct val="120000"/>
              </a:lnSpc>
            </a:pPr>
            <a:endParaRPr lang="en-US" altLang="ko-KR" sz="12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Train &amp; validation </a:t>
            </a:r>
            <a:r>
              <a:rPr lang="ko-KR" altLang="en-US" sz="1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데이터 합치기</a:t>
            </a:r>
            <a:endParaRPr lang="en-US" altLang="ko-KR" sz="12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just">
              <a:lnSpc>
                <a:spcPct val="120000"/>
              </a:lnSpc>
            </a:pPr>
            <a:endParaRPr lang="en-US" altLang="ko-KR" sz="20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just">
              <a:lnSpc>
                <a:spcPct val="120000"/>
              </a:lnSpc>
            </a:pP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BA64DC-7C54-45E3-BFC8-0E1A89DFF18E}"/>
              </a:ext>
            </a:extLst>
          </p:cNvPr>
          <p:cNvSpPr txBox="1"/>
          <p:nvPr/>
        </p:nvSpPr>
        <p:spPr>
          <a:xfrm>
            <a:off x="9488025" y="2881277"/>
            <a:ext cx="1682895" cy="423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시각화 작성</a:t>
            </a: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296126-4E3C-49DA-BBCD-DD892FC6232B}"/>
              </a:ext>
            </a:extLst>
          </p:cNvPr>
          <p:cNvSpPr txBox="1"/>
          <p:nvPr/>
        </p:nvSpPr>
        <p:spPr>
          <a:xfrm>
            <a:off x="339535" y="1264666"/>
            <a:ext cx="11713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/>
              <a:t>Logistic, decision tree, random forest, </a:t>
            </a:r>
            <a:r>
              <a:rPr lang="en-US" altLang="ko-KR" sz="2400" dirty="0" err="1" smtClean="0"/>
              <a:t>xgboost</a:t>
            </a:r>
            <a:r>
              <a:rPr lang="en-US" altLang="ko-KR" sz="2400" dirty="0" smtClean="0"/>
              <a:t>  </a:t>
            </a:r>
            <a:r>
              <a:rPr lang="ko-KR" altLang="en-US" sz="2400" dirty="0" smtClean="0"/>
              <a:t>총 </a:t>
            </a:r>
            <a:r>
              <a:rPr lang="en-US" altLang="ko-KR" sz="2400" dirty="0"/>
              <a:t>4</a:t>
            </a:r>
            <a:r>
              <a:rPr lang="ko-KR" altLang="en-US" sz="2400" dirty="0"/>
              <a:t>개의 모델을 개발</a:t>
            </a:r>
          </a:p>
          <a:p>
            <a:endParaRPr lang="ko-KR" altLang="en-US" sz="2400" spc="-300" dirty="0">
              <a:solidFill>
                <a:srgbClr val="393939"/>
              </a:solidFill>
              <a:latin typeface="+mn-ea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F6E5F64-C530-4917-A4C3-74BC96F3D0EB}"/>
              </a:ext>
            </a:extLst>
          </p:cNvPr>
          <p:cNvSpPr/>
          <p:nvPr/>
        </p:nvSpPr>
        <p:spPr>
          <a:xfrm>
            <a:off x="132080" y="1261467"/>
            <a:ext cx="108000" cy="46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0149840" y="6550429"/>
            <a:ext cx="2042160" cy="307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2808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46E572-061A-4F66-860A-EA1641AD3DE2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1765C-E4E1-440B-B3F6-AD127EB533CF}"/>
              </a:ext>
            </a:extLst>
          </p:cNvPr>
          <p:cNvSpPr txBox="1"/>
          <p:nvPr/>
        </p:nvSpPr>
        <p:spPr>
          <a:xfrm>
            <a:off x="875104" y="101916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bg1"/>
                </a:solidFill>
              </a:rPr>
              <a:t>모델 개발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77FB6-6DE1-44E4-8EF8-7160153CD120}"/>
              </a:ext>
            </a:extLst>
          </p:cNvPr>
          <p:cNvSpPr txBox="1"/>
          <p:nvPr/>
        </p:nvSpPr>
        <p:spPr>
          <a:xfrm>
            <a:off x="132080" y="117305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3</a:t>
            </a:r>
            <a:r>
              <a:rPr lang="en-US" altLang="ko-KR" sz="1400" dirty="0" smtClean="0">
                <a:solidFill>
                  <a:schemeClr val="bg1"/>
                </a:solidFill>
              </a:rPr>
              <a:t>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BCC2A94-3B7C-40CD-85CA-3396D49AB7DB}"/>
              </a:ext>
            </a:extLst>
          </p:cNvPr>
          <p:cNvSpPr/>
          <p:nvPr/>
        </p:nvSpPr>
        <p:spPr>
          <a:xfrm>
            <a:off x="481567" y="1495581"/>
            <a:ext cx="5413594" cy="4911323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03DF181-F5FC-4296-804F-A14ADC41E677}"/>
              </a:ext>
            </a:extLst>
          </p:cNvPr>
          <p:cNvSpPr/>
          <p:nvPr/>
        </p:nvSpPr>
        <p:spPr>
          <a:xfrm>
            <a:off x="6314157" y="1495581"/>
            <a:ext cx="5396276" cy="4911321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6228D44-9A46-445D-B8E2-218436356BD1}"/>
              </a:ext>
            </a:extLst>
          </p:cNvPr>
          <p:cNvSpPr/>
          <p:nvPr/>
        </p:nvSpPr>
        <p:spPr>
          <a:xfrm>
            <a:off x="709177" y="1708060"/>
            <a:ext cx="4980423" cy="6844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300"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5668D1-B06A-4F43-91C8-6A23B83E156E}"/>
              </a:ext>
            </a:extLst>
          </p:cNvPr>
          <p:cNvSpPr txBox="1"/>
          <p:nvPr/>
        </p:nvSpPr>
        <p:spPr>
          <a:xfrm>
            <a:off x="1940824" y="1788695"/>
            <a:ext cx="2406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Correlation Graph</a:t>
            </a:r>
            <a:endParaRPr lang="ko-KR" altLang="en-US" sz="2800" spc="-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149840" y="6550429"/>
            <a:ext cx="2042160" cy="307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37" y="2835246"/>
            <a:ext cx="5258501" cy="3128962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228D44-9A46-445D-B8E2-218436356BD1}"/>
              </a:ext>
            </a:extLst>
          </p:cNvPr>
          <p:cNvSpPr/>
          <p:nvPr/>
        </p:nvSpPr>
        <p:spPr>
          <a:xfrm>
            <a:off x="6443227" y="1708060"/>
            <a:ext cx="4980423" cy="6844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300"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5668D1-B06A-4F43-91C8-6A23B83E156E}"/>
              </a:ext>
            </a:extLst>
          </p:cNvPr>
          <p:cNvSpPr txBox="1"/>
          <p:nvPr/>
        </p:nvSpPr>
        <p:spPr>
          <a:xfrm>
            <a:off x="8360204" y="1788695"/>
            <a:ext cx="1146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시각화</a:t>
            </a:r>
            <a:endParaRPr lang="ko-KR" altLang="en-US" sz="2800" spc="-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970" y="2552966"/>
            <a:ext cx="4078605" cy="385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4070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46E572-061A-4F66-860A-EA1641AD3DE2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1765C-E4E1-440B-B3F6-AD127EB533CF}"/>
              </a:ext>
            </a:extLst>
          </p:cNvPr>
          <p:cNvSpPr txBox="1"/>
          <p:nvPr/>
        </p:nvSpPr>
        <p:spPr>
          <a:xfrm>
            <a:off x="875104" y="101916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bg1"/>
                </a:solidFill>
              </a:rPr>
              <a:t>모델 개발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77FB6-6DE1-44E4-8EF8-7160153CD120}"/>
              </a:ext>
            </a:extLst>
          </p:cNvPr>
          <p:cNvSpPr txBox="1"/>
          <p:nvPr/>
        </p:nvSpPr>
        <p:spPr>
          <a:xfrm>
            <a:off x="132080" y="117305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3</a:t>
            </a:r>
            <a:r>
              <a:rPr lang="en-US" altLang="ko-KR" sz="1400" dirty="0" smtClean="0">
                <a:solidFill>
                  <a:schemeClr val="bg1"/>
                </a:solidFill>
              </a:rPr>
              <a:t>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BCC2A94-3B7C-40CD-85CA-3396D49AB7DB}"/>
              </a:ext>
            </a:extLst>
          </p:cNvPr>
          <p:cNvSpPr/>
          <p:nvPr/>
        </p:nvSpPr>
        <p:spPr>
          <a:xfrm>
            <a:off x="481567" y="1495581"/>
            <a:ext cx="5413594" cy="4911323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03DF181-F5FC-4296-804F-A14ADC41E677}"/>
              </a:ext>
            </a:extLst>
          </p:cNvPr>
          <p:cNvSpPr/>
          <p:nvPr/>
        </p:nvSpPr>
        <p:spPr>
          <a:xfrm>
            <a:off x="6314157" y="1495581"/>
            <a:ext cx="5396276" cy="4911321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6228D44-9A46-445D-B8E2-218436356BD1}"/>
              </a:ext>
            </a:extLst>
          </p:cNvPr>
          <p:cNvSpPr/>
          <p:nvPr/>
        </p:nvSpPr>
        <p:spPr>
          <a:xfrm>
            <a:off x="709177" y="1708060"/>
            <a:ext cx="4980423" cy="6844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300"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5668D1-B06A-4F43-91C8-6A23B83E156E}"/>
              </a:ext>
            </a:extLst>
          </p:cNvPr>
          <p:cNvSpPr txBox="1"/>
          <p:nvPr/>
        </p:nvSpPr>
        <p:spPr>
          <a:xfrm>
            <a:off x="1940824" y="1788695"/>
            <a:ext cx="2406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Correlation Graph</a:t>
            </a:r>
            <a:endParaRPr lang="ko-KR" altLang="en-US" sz="2800" spc="-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149840" y="6550429"/>
            <a:ext cx="2042160" cy="307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37" y="2835246"/>
            <a:ext cx="5258501" cy="3128962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228D44-9A46-445D-B8E2-218436356BD1}"/>
              </a:ext>
            </a:extLst>
          </p:cNvPr>
          <p:cNvSpPr/>
          <p:nvPr/>
        </p:nvSpPr>
        <p:spPr>
          <a:xfrm>
            <a:off x="6443227" y="1708060"/>
            <a:ext cx="4980423" cy="6844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300"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5668D1-B06A-4F43-91C8-6A23B83E156E}"/>
              </a:ext>
            </a:extLst>
          </p:cNvPr>
          <p:cNvSpPr txBox="1"/>
          <p:nvPr/>
        </p:nvSpPr>
        <p:spPr>
          <a:xfrm>
            <a:off x="8360204" y="1788695"/>
            <a:ext cx="1146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시각화</a:t>
            </a:r>
            <a:endParaRPr lang="ko-KR" altLang="en-US" sz="2800" spc="-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0" y="1076960"/>
            <a:ext cx="12192000" cy="578104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970" y="2552966"/>
            <a:ext cx="4078605" cy="3853936"/>
          </a:xfrm>
          <a:prstGeom prst="rect">
            <a:avLst/>
          </a:prstGeom>
          <a:effectLst>
            <a:glow rad="127000">
              <a:srgbClr val="1E3252"/>
            </a:glow>
          </a:effectLst>
        </p:spPr>
      </p:pic>
      <p:sp>
        <p:nvSpPr>
          <p:cNvPr id="7" name="타원 6"/>
          <p:cNvSpPr/>
          <p:nvPr/>
        </p:nvSpPr>
        <p:spPr>
          <a:xfrm>
            <a:off x="9506673" y="4667250"/>
            <a:ext cx="1570902" cy="485775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/>
          <p:cNvCxnSpPr>
            <a:stCxn id="7" idx="1"/>
          </p:cNvCxnSpPr>
          <p:nvPr/>
        </p:nvCxnSpPr>
        <p:spPr>
          <a:xfrm flipH="1" flipV="1">
            <a:off x="5419725" y="3800475"/>
            <a:ext cx="4317001" cy="937915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7902" y="3112971"/>
            <a:ext cx="4737100" cy="2154436"/>
          </a:xfrm>
          <a:prstGeom prst="rect">
            <a:avLst/>
          </a:prstGeom>
          <a:effectLst>
            <a:glow rad="101600">
              <a:srgbClr val="1E3252"/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4400" b="1" dirty="0" err="1" smtClean="0"/>
              <a:t>Loan_Status</a:t>
            </a:r>
            <a:r>
              <a:rPr lang="ko-KR" altLang="en-US" sz="4400" dirty="0" smtClean="0"/>
              <a:t> </a:t>
            </a:r>
            <a:r>
              <a:rPr lang="en-US" altLang="ko-KR" sz="4400" b="1" dirty="0" err="1"/>
              <a:t>Credit_History</a:t>
            </a:r>
            <a:endParaRPr lang="en-US" altLang="ko-KR" sz="4400" b="1" dirty="0"/>
          </a:p>
          <a:p>
            <a:endParaRPr lang="en-US" altLang="ko-KR" dirty="0" smtClean="0"/>
          </a:p>
          <a:p>
            <a:r>
              <a:rPr lang="ko-KR" altLang="en-US" sz="2800" dirty="0" smtClean="0"/>
              <a:t>가장 연관성이 큰 데이터 </a:t>
            </a:r>
            <a:endParaRPr lang="en-US" altLang="ko-KR" sz="2800" b="1" dirty="0" smtClean="0"/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421734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46E572-061A-4F66-860A-EA1641AD3DE2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1765C-E4E1-440B-B3F6-AD127EB533CF}"/>
              </a:ext>
            </a:extLst>
          </p:cNvPr>
          <p:cNvSpPr txBox="1"/>
          <p:nvPr/>
        </p:nvSpPr>
        <p:spPr>
          <a:xfrm>
            <a:off x="875104" y="101916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bg1"/>
                </a:solidFill>
              </a:rPr>
              <a:t>모델 학습 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77FB6-6DE1-44E4-8EF8-7160153CD120}"/>
              </a:ext>
            </a:extLst>
          </p:cNvPr>
          <p:cNvSpPr txBox="1"/>
          <p:nvPr/>
        </p:nvSpPr>
        <p:spPr>
          <a:xfrm>
            <a:off x="132080" y="117305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</a:t>
            </a:r>
            <a:r>
              <a:rPr lang="en-US" altLang="ko-KR" sz="1400" dirty="0" smtClean="0">
                <a:solidFill>
                  <a:schemeClr val="bg1"/>
                </a:solidFill>
              </a:rPr>
              <a:t>3,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25DEC-4F15-4754-B254-3D7F6BCAC00C}"/>
              </a:ext>
            </a:extLst>
          </p:cNvPr>
          <p:cNvSpPr txBox="1"/>
          <p:nvPr/>
        </p:nvSpPr>
        <p:spPr>
          <a:xfrm>
            <a:off x="875104" y="676096"/>
            <a:ext cx="3764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chemeClr val="bg1"/>
                </a:solidFill>
                <a:latin typeface="Arial Nova Light" panose="020B0304020202020204" pitchFamily="34" charset="0"/>
              </a:rPr>
              <a:t>Decision-Tree , Logistic-Regression , Random-Forest , </a:t>
            </a:r>
            <a:r>
              <a:rPr lang="en-US" altLang="ko-KR" sz="1100" dirty="0" err="1" smtClean="0">
                <a:solidFill>
                  <a:schemeClr val="bg1"/>
                </a:solidFill>
                <a:latin typeface="Arial Nova Light" panose="020B0304020202020204" pitchFamily="34" charset="0"/>
              </a:rPr>
              <a:t>XGBoost</a:t>
            </a:r>
            <a:endParaRPr lang="ko-KR" altLang="en-US" sz="1100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6CD122-35AA-4195-BFCD-BA4841A128B6}"/>
              </a:ext>
            </a:extLst>
          </p:cNvPr>
          <p:cNvSpPr/>
          <p:nvPr/>
        </p:nvSpPr>
        <p:spPr>
          <a:xfrm>
            <a:off x="399062" y="1529413"/>
            <a:ext cx="5473418" cy="4997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10149840" y="6550429"/>
            <a:ext cx="2042160" cy="307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80" y="1651140"/>
            <a:ext cx="4752582" cy="472138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9F6CD122-35AA-4195-BFCD-BA4841A128B6}"/>
              </a:ext>
            </a:extLst>
          </p:cNvPr>
          <p:cNvSpPr/>
          <p:nvPr/>
        </p:nvSpPr>
        <p:spPr>
          <a:xfrm>
            <a:off x="6309668" y="1529413"/>
            <a:ext cx="5473418" cy="4997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279" y="1651140"/>
            <a:ext cx="5184196" cy="2801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43860" y="4697774"/>
            <a:ext cx="43270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smtClean="0"/>
              <a:t>모델 학습</a:t>
            </a:r>
            <a:endParaRPr lang="en-US" altLang="ko-KR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Decision-tree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Logistic-Regression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Random-Forest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 smtClean="0"/>
              <a:t>XGBoost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5101289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46E572-061A-4F66-860A-EA1641AD3DE2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1765C-E4E1-440B-B3F6-AD127EB533CF}"/>
              </a:ext>
            </a:extLst>
          </p:cNvPr>
          <p:cNvSpPr txBox="1"/>
          <p:nvPr/>
        </p:nvSpPr>
        <p:spPr>
          <a:xfrm>
            <a:off x="875104" y="101916"/>
            <a:ext cx="28777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bg1"/>
                </a:solidFill>
              </a:rPr>
              <a:t>모델 학습 비교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77FB6-6DE1-44E4-8EF8-7160153CD120}"/>
              </a:ext>
            </a:extLst>
          </p:cNvPr>
          <p:cNvSpPr txBox="1"/>
          <p:nvPr/>
        </p:nvSpPr>
        <p:spPr>
          <a:xfrm>
            <a:off x="132080" y="117305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</a:t>
            </a:r>
            <a:r>
              <a:rPr lang="en-US" altLang="ko-KR" sz="1400" dirty="0" smtClean="0">
                <a:solidFill>
                  <a:schemeClr val="bg1"/>
                </a:solidFill>
              </a:rPr>
              <a:t>3,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25DEC-4F15-4754-B254-3D7F6BCAC00C}"/>
              </a:ext>
            </a:extLst>
          </p:cNvPr>
          <p:cNvSpPr txBox="1"/>
          <p:nvPr/>
        </p:nvSpPr>
        <p:spPr>
          <a:xfrm>
            <a:off x="875104" y="676096"/>
            <a:ext cx="3764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chemeClr val="bg1"/>
                </a:solidFill>
                <a:latin typeface="Arial Nova Light" panose="020B0304020202020204" pitchFamily="34" charset="0"/>
              </a:rPr>
              <a:t>Decision-Tree , Logistic-Regression , Random-Forest , </a:t>
            </a:r>
            <a:r>
              <a:rPr lang="en-US" altLang="ko-KR" sz="1100" dirty="0" err="1" smtClean="0">
                <a:solidFill>
                  <a:schemeClr val="bg1"/>
                </a:solidFill>
                <a:latin typeface="Arial Nova Light" panose="020B0304020202020204" pitchFamily="34" charset="0"/>
              </a:rPr>
              <a:t>XGBoost</a:t>
            </a:r>
            <a:endParaRPr lang="ko-KR" altLang="en-US" sz="1100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6CD122-35AA-4195-BFCD-BA4841A128B6}"/>
              </a:ext>
            </a:extLst>
          </p:cNvPr>
          <p:cNvSpPr/>
          <p:nvPr/>
        </p:nvSpPr>
        <p:spPr>
          <a:xfrm>
            <a:off x="399062" y="1529413"/>
            <a:ext cx="5473418" cy="4997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10149840" y="6550429"/>
            <a:ext cx="2042160" cy="307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1" y="1753056"/>
            <a:ext cx="4933950" cy="46191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13187" y="1114310"/>
            <a:ext cx="42043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시각화를 통한 모델 비교</a:t>
            </a:r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6674177" y="4977353"/>
            <a:ext cx="4958499" cy="2545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9372343" y="3572759"/>
            <a:ext cx="414779" cy="1404594"/>
          </a:xfrm>
          <a:prstGeom prst="rect">
            <a:avLst/>
          </a:prstGeom>
          <a:solidFill>
            <a:srgbClr val="FCBD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8331312" y="2903455"/>
            <a:ext cx="414779" cy="2073897"/>
          </a:xfrm>
          <a:prstGeom prst="rect">
            <a:avLst/>
          </a:prstGeom>
          <a:solidFill>
            <a:srgbClr val="94B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7295355" y="2046425"/>
            <a:ext cx="414779" cy="2939712"/>
          </a:xfrm>
          <a:prstGeom prst="rect">
            <a:avLst/>
          </a:prstGeom>
          <a:solidFill>
            <a:srgbClr val="53D3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0408300" y="4016671"/>
            <a:ext cx="414779" cy="960681"/>
          </a:xfrm>
          <a:prstGeom prst="rect">
            <a:avLst/>
          </a:prstGeom>
          <a:solidFill>
            <a:srgbClr val="D4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6302029" y="2076735"/>
            <a:ext cx="2401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/>
              <a:t>1</a:t>
            </a:r>
            <a:endParaRPr lang="ko-KR" altLang="en-US" sz="3600" dirty="0"/>
          </a:p>
        </p:txBody>
      </p:sp>
      <p:sp>
        <p:nvSpPr>
          <p:cNvPr id="29" name="TextBox 28"/>
          <p:cNvSpPr txBox="1"/>
          <p:nvPr/>
        </p:nvSpPr>
        <p:spPr>
          <a:xfrm>
            <a:off x="7337986" y="2911199"/>
            <a:ext cx="2401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/>
              <a:t>2</a:t>
            </a:r>
            <a:r>
              <a:rPr lang="ko-KR" altLang="en-US" sz="3600" dirty="0" smtClean="0"/>
              <a:t> </a:t>
            </a:r>
            <a:endParaRPr lang="ko-KR" altLang="en-US" sz="3600" dirty="0"/>
          </a:p>
        </p:txBody>
      </p:sp>
      <p:sp>
        <p:nvSpPr>
          <p:cNvPr id="30" name="TextBox 29"/>
          <p:cNvSpPr txBox="1"/>
          <p:nvPr/>
        </p:nvSpPr>
        <p:spPr>
          <a:xfrm>
            <a:off x="8379017" y="3582711"/>
            <a:ext cx="2401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/>
              <a:t>3</a:t>
            </a:r>
            <a:r>
              <a:rPr lang="ko-KR" altLang="en-US" sz="3600" dirty="0" smtClean="0"/>
              <a:t> </a:t>
            </a:r>
            <a:endParaRPr lang="ko-KR" altLang="en-US" sz="3600" dirty="0"/>
          </a:p>
        </p:txBody>
      </p:sp>
      <p:sp>
        <p:nvSpPr>
          <p:cNvPr id="31" name="TextBox 30"/>
          <p:cNvSpPr txBox="1"/>
          <p:nvPr/>
        </p:nvSpPr>
        <p:spPr>
          <a:xfrm>
            <a:off x="8090204" y="5257057"/>
            <a:ext cx="1918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Logistic</a:t>
            </a:r>
          </a:p>
          <a:p>
            <a:r>
              <a:rPr lang="en-US" altLang="ko-KR" sz="1200" dirty="0" smtClean="0"/>
              <a:t>Regression</a:t>
            </a:r>
            <a:endParaRPr lang="ko-KR" alt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7131132" y="5282238"/>
            <a:ext cx="1918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Random</a:t>
            </a:r>
          </a:p>
          <a:p>
            <a:r>
              <a:rPr lang="en-US" altLang="ko-KR" sz="1200" dirty="0" smtClean="0"/>
              <a:t>Forest</a:t>
            </a:r>
            <a:endParaRPr lang="ko-KR" altLang="en-US" sz="1200" dirty="0"/>
          </a:p>
        </p:txBody>
      </p:sp>
      <p:sp>
        <p:nvSpPr>
          <p:cNvPr id="34" name="TextBox 33"/>
          <p:cNvSpPr txBox="1"/>
          <p:nvPr/>
        </p:nvSpPr>
        <p:spPr>
          <a:xfrm>
            <a:off x="8285286" y="1127322"/>
            <a:ext cx="420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모델 정확도 순위</a:t>
            </a:r>
            <a:endParaRPr lang="en-US" altLang="ko-KR" dirty="0" smtClean="0"/>
          </a:p>
        </p:txBody>
      </p:sp>
      <p:sp>
        <p:nvSpPr>
          <p:cNvPr id="35" name="TextBox 34"/>
          <p:cNvSpPr txBox="1"/>
          <p:nvPr/>
        </p:nvSpPr>
        <p:spPr>
          <a:xfrm>
            <a:off x="9414974" y="3995791"/>
            <a:ext cx="2401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smtClean="0"/>
              <a:t>4</a:t>
            </a:r>
            <a:r>
              <a:rPr lang="ko-KR" altLang="en-US" sz="3600" dirty="0" smtClean="0"/>
              <a:t> </a:t>
            </a:r>
            <a:endParaRPr lang="ko-KR" altLang="en-US" sz="3600" dirty="0"/>
          </a:p>
        </p:txBody>
      </p:sp>
      <p:sp>
        <p:nvSpPr>
          <p:cNvPr id="36" name="TextBox 35"/>
          <p:cNvSpPr txBox="1"/>
          <p:nvPr/>
        </p:nvSpPr>
        <p:spPr>
          <a:xfrm>
            <a:off x="9252776" y="5287530"/>
            <a:ext cx="1918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Decision</a:t>
            </a:r>
          </a:p>
          <a:p>
            <a:r>
              <a:rPr lang="en-US" altLang="ko-KR" sz="1200" dirty="0" smtClean="0"/>
              <a:t>Tree</a:t>
            </a:r>
            <a:endParaRPr lang="ko-KR" alt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10273856" y="5300056"/>
            <a:ext cx="1918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 smtClean="0"/>
              <a:t>XGBoost</a:t>
            </a:r>
            <a:endParaRPr lang="ko-KR" alt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6599131" y="6034934"/>
            <a:ext cx="5307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/>
              <a:t>Random Forest  (Recipe2)</a:t>
            </a:r>
            <a:r>
              <a:rPr lang="ko-KR" altLang="en-US" sz="2000" dirty="0" smtClean="0"/>
              <a:t>가 가장 적합한 모델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0933606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70D9A74-20C5-4797-A71C-3BADA5484665}"/>
              </a:ext>
            </a:extLst>
          </p:cNvPr>
          <p:cNvGrpSpPr/>
          <p:nvPr/>
        </p:nvGrpSpPr>
        <p:grpSpPr>
          <a:xfrm>
            <a:off x="1533426" y="1843950"/>
            <a:ext cx="9125148" cy="3170098"/>
            <a:chOff x="1584226" y="2010598"/>
            <a:chExt cx="9125148" cy="317009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328F93B-05A5-444E-AF24-4A2A30E38A22}"/>
                </a:ext>
              </a:extLst>
            </p:cNvPr>
            <p:cNvSpPr txBox="1"/>
            <p:nvPr/>
          </p:nvSpPr>
          <p:spPr>
            <a:xfrm>
              <a:off x="1584226" y="2010598"/>
              <a:ext cx="2641589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800" dirty="0">
                  <a:solidFill>
                    <a:schemeClr val="bg1"/>
                  </a:solidFill>
                </a:rPr>
                <a:t> 「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0455BA2-BC83-497B-BB13-4D47B1322F37}"/>
                </a:ext>
              </a:extLst>
            </p:cNvPr>
            <p:cNvSpPr txBox="1"/>
            <p:nvPr/>
          </p:nvSpPr>
          <p:spPr>
            <a:xfrm>
              <a:off x="9410621" y="2964705"/>
              <a:ext cx="1298753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13800">
                  <a:solidFill>
                    <a:srgbClr val="0194E7"/>
                  </a:solidFill>
                </a:defRPr>
              </a:lvl1pPr>
            </a:lstStyle>
            <a:p>
              <a:r>
                <a:rPr lang="ko-KR" altLang="en-US" dirty="0">
                  <a:solidFill>
                    <a:schemeClr val="bg1"/>
                  </a:solidFill>
                </a:rPr>
                <a:t>」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21AEC5A-5830-454D-8939-8073E476BB27}"/>
              </a:ext>
            </a:extLst>
          </p:cNvPr>
          <p:cNvSpPr txBox="1"/>
          <p:nvPr/>
        </p:nvSpPr>
        <p:spPr>
          <a:xfrm>
            <a:off x="5021026" y="3167390"/>
            <a:ext cx="2149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i="1" smtClean="0">
                <a:solidFill>
                  <a:schemeClr val="bg1"/>
                </a:solidFill>
              </a:rPr>
              <a:t>감사합니다</a:t>
            </a:r>
            <a:r>
              <a:rPr lang="en-US" altLang="ko-KR" sz="2800" i="1" dirty="0" smtClean="0">
                <a:solidFill>
                  <a:schemeClr val="bg1"/>
                </a:solidFill>
              </a:rPr>
              <a:t>. </a:t>
            </a:r>
            <a:endParaRPr lang="ko-KR" altLang="en-US" sz="28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83216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200090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3252"/>
      </a:accent1>
      <a:accent2>
        <a:srgbClr val="005289"/>
      </a:accent2>
      <a:accent3>
        <a:srgbClr val="007095"/>
      </a:accent3>
      <a:accent4>
        <a:srgbClr val="BCDEE3"/>
      </a:accent4>
      <a:accent5>
        <a:srgbClr val="418A9D"/>
      </a:accent5>
      <a:accent6>
        <a:srgbClr val="AEAFA9"/>
      </a:accent6>
      <a:hlink>
        <a:srgbClr val="393939"/>
      </a:hlink>
      <a:folHlink>
        <a:srgbClr val="393939"/>
      </a:folHlink>
    </a:clrScheme>
    <a:fontScheme name="나눔스퀘어 Light">
      <a:majorFont>
        <a:latin typeface="나눔스퀘어 ExtraBold"/>
        <a:ea typeface="나눔스퀘어 ExtraBold"/>
        <a:cs typeface=""/>
      </a:majorFont>
      <a:minorFont>
        <a:latin typeface="나눔스퀘어 Light"/>
        <a:ea typeface="나눔스퀘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506</Words>
  <Application>Microsoft Office PowerPoint</Application>
  <PresentationFormat>와이드스크린</PresentationFormat>
  <Paragraphs>157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6" baseType="lpstr">
      <vt:lpstr>Arial Nova Light</vt:lpstr>
      <vt:lpstr>나눔스퀘어 ExtraBold</vt:lpstr>
      <vt:lpstr>나눔스퀘어 Light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GREEN</cp:lastModifiedBy>
  <cp:revision>33</cp:revision>
  <dcterms:created xsi:type="dcterms:W3CDTF">2020-09-07T02:34:06Z</dcterms:created>
  <dcterms:modified xsi:type="dcterms:W3CDTF">2021-12-02T02:42:36Z</dcterms:modified>
</cp:coreProperties>
</file>