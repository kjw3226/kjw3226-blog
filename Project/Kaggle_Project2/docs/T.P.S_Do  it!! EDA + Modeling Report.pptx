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  <p:sldMasterId id="2147483672" r:id="rId2"/>
  </p:sldMasterIdLst>
  <p:notesMasterIdLst>
    <p:notesMasterId r:id="rId33"/>
  </p:notesMasterIdLst>
  <p:sldIdLst>
    <p:sldId id="257" r:id="rId3"/>
    <p:sldId id="258" r:id="rId4"/>
    <p:sldId id="259" r:id="rId5"/>
    <p:sldId id="260" r:id="rId6"/>
    <p:sldId id="267" r:id="rId7"/>
    <p:sldId id="268" r:id="rId8"/>
    <p:sldId id="262" r:id="rId9"/>
    <p:sldId id="269" r:id="rId10"/>
    <p:sldId id="270" r:id="rId11"/>
    <p:sldId id="271" r:id="rId12"/>
    <p:sldId id="263" r:id="rId13"/>
    <p:sldId id="272" r:id="rId14"/>
    <p:sldId id="276" r:id="rId15"/>
    <p:sldId id="279" r:id="rId16"/>
    <p:sldId id="278" r:id="rId17"/>
    <p:sldId id="274" r:id="rId18"/>
    <p:sldId id="298" r:id="rId19"/>
    <p:sldId id="273" r:id="rId20"/>
    <p:sldId id="264" r:id="rId21"/>
    <p:sldId id="283" r:id="rId22"/>
    <p:sldId id="294" r:id="rId23"/>
    <p:sldId id="280" r:id="rId24"/>
    <p:sldId id="282" r:id="rId25"/>
    <p:sldId id="284" r:id="rId26"/>
    <p:sldId id="285" r:id="rId27"/>
    <p:sldId id="290" r:id="rId28"/>
    <p:sldId id="291" r:id="rId29"/>
    <p:sldId id="265" r:id="rId30"/>
    <p:sldId id="293" r:id="rId31"/>
    <p:sldId id="29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D0A"/>
    <a:srgbClr val="DCE3F1"/>
    <a:srgbClr val="F21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66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94" y="96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7EFC1-5ECD-442B-BF7E-00B733388737}" type="datetimeFigureOut">
              <a:rPr lang="ko-KR" altLang="en-US" smtClean="0"/>
              <a:t>2021-12-31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9EF88-28DE-4DDB-AFAC-D6D4D22B4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67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C6577B-6BBA-40F0-964C-787359AFD40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336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C6577B-6BBA-40F0-964C-787359AFD40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179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C6577B-6BBA-40F0-964C-787359AFD40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8635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C6577B-6BBA-40F0-964C-787359AFD40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92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C6577B-6BBA-40F0-964C-787359AFD40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301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C6577B-6BBA-40F0-964C-787359AFD40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8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97342-ABC3-4711-8B90-BFB761A74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DB23A4-D4D5-41B2-A532-D3CBE8F88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8711B-DF31-437A-AED1-2D6F0208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125618-9F2A-41CB-8CCA-FCFDA177616A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F82ED-295D-4613-A4E4-2EA51556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4ACF1-D5A6-42FB-8CCA-691B6A4D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290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4A90C-2C47-4A78-AD55-DF363B32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CE87B5-9F6D-4E1F-B316-7C15E0FB4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7BC2C-16D3-4F48-ABAE-6D67A2FD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5DECC6-A3DC-48BB-845F-5B936E269527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5317B8-F84E-4041-919B-F6430F2A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003C3-9211-4351-9A53-4528DAEC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00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87254-2A47-478E-A9A8-456B5F71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5FECD-0896-4C1B-A97E-7DC2270D2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B835E-E189-4E8E-B063-DAD9E609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D543B9-1F01-453C-A86A-C028CD43185A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626E5-2246-41C0-96A0-B35EC7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38646-C785-4172-AFF1-A2D9C026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94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CA4CD-70CC-4B70-9C24-061B271A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C72E2-65E3-4598-A49B-AEFA913AC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4DB475-D98F-4EFD-9057-36C6826EE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664AB3-CA4E-444F-830B-5BF673A3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5385CD-E15B-4003-AE46-4F344F249F02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F159B2-A3AC-40EE-AC89-3C18219C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EB66D9-E381-42B7-AB84-A92EE057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31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37027-84AB-4A37-93AD-031C9C75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FAA95E-1F99-4EC1-B567-D80F8F924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442BA7-78B3-411A-A255-FA5B463AF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C571B0-1B53-46AF-AE91-F9FD7F8B7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3B296D-5DF4-4A4D-81E1-C9081FB8D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5143F2-B2DB-40D6-A10E-D845E996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5672E-9E88-4EA9-80AD-D58C1E4838D7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FA8861-7973-4E8A-A7B5-48179B53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FB6A3E-59FE-4491-8E88-E6CAE845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95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77143-2AEC-4CE8-84D4-A1BD2D60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F5C598-5478-4FCB-BB55-A0B90F8C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4E68DE-2279-4343-AA9B-B6A2980936A6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74210C-A484-4768-8D94-B50EB4B11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F5DFB3-1FDC-4A94-A3E2-4DF4F0CE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26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BC0A93-05C5-47A8-B764-849EB97F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6F4CE-D7DF-4D94-810A-68DC356C221F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1DECEF-2493-4A34-B75E-1CCC19B0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24B09-34A3-45EA-9D07-8FE353F4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1C2DCE-1FE1-455D-A450-A884A6CF7F83}"/>
              </a:ext>
            </a:extLst>
          </p:cNvPr>
          <p:cNvSpPr/>
          <p:nvPr userDrawn="1"/>
        </p:nvSpPr>
        <p:spPr>
          <a:xfrm>
            <a:off x="313248" y="702022"/>
            <a:ext cx="11565504" cy="590533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Bold" panose="020B0600000101010101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192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DA89C-2DC0-4E47-B5E2-00DFC41D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9EA24-87FB-4355-B3BE-A335A5836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0299A-0670-4FF2-AAF7-0781F6A1A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26FAC1-4CB7-45D5-BA8B-B45293F61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85A87C-8A59-40FB-A21F-6FE4938021EA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DBA167-0903-4686-BE99-6487706C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61D752-1A94-47F7-BA07-2C527703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45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D2203-E126-426C-8363-6C040ECE6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C83A88-4FA1-445F-B436-10AC26483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FC44A8-2FD9-40E9-9522-AF9E6D484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110F5D-3ECE-4725-90E7-B92CAFAFD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2E725A-3BE9-4B72-AA81-83FDCADA831F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2AB9C2-FEAE-47AB-A0A6-81B44CC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4E30AE-BC25-4B6E-87CA-4C108A06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19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DBDD2-0827-4EE3-BA8D-B2B519C1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9B098A-8989-49CE-BB0F-A3441B88A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A63F4-A04B-4770-AF23-E20D0136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4D417-F4E0-405D-9F8D-AB7615EDEE85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6B71EE-B227-49BA-8BF1-298B0A33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91A56-D4CF-4498-B2AD-5FF7650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05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06CE6A-50CA-4259-A10A-3C03A7E2D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53495F-F775-4624-BAD9-31411D515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244680-4C79-4CDD-9C1B-819FB44B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E1652C-75F4-4A3D-B8CE-ED9F331EB434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538765-3399-4DC7-819C-E7DC3CE5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09D14F-A20C-4388-AE09-F88AE4C3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161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97342-ABC3-4711-8B90-BFB761A74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DB23A4-D4D5-41B2-A532-D3CBE8F88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8711B-DF31-437A-AED1-2D6F0208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125618-9F2A-41CB-8CCA-FCFDA177616A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F82ED-295D-4613-A4E4-2EA51556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4ACF1-D5A6-42FB-8CCA-691B6A4D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155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4A90C-2C47-4A78-AD55-DF363B32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CE87B5-9F6D-4E1F-B316-7C15E0FB4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7BC2C-16D3-4F48-ABAE-6D67A2FD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5DECC6-A3DC-48BB-845F-5B936E269527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5317B8-F84E-4041-919B-F6430F2A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003C3-9211-4351-9A53-4528DAEC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939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87254-2A47-478E-A9A8-456B5F71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5FECD-0896-4C1B-A97E-7DC2270D2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B835E-E189-4E8E-B063-DAD9E609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D543B9-1F01-453C-A86A-C028CD43185A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626E5-2246-41C0-96A0-B35EC7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38646-C785-4172-AFF1-A2D9C026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562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CA4CD-70CC-4B70-9C24-061B271A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C72E2-65E3-4598-A49B-AEFA913AC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4DB475-D98F-4EFD-9057-36C6826EE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664AB3-CA4E-444F-830B-5BF673A3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5385CD-E15B-4003-AE46-4F344F249F02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F159B2-A3AC-40EE-AC89-3C18219C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EB66D9-E381-42B7-AB84-A92EE057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008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37027-84AB-4A37-93AD-031C9C75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FAA95E-1F99-4EC1-B567-D80F8F924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442BA7-78B3-411A-A255-FA5B463AF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C571B0-1B53-46AF-AE91-F9FD7F8B7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3B296D-5DF4-4A4D-81E1-C9081FB8D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5143F2-B2DB-40D6-A10E-D845E996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5672E-9E88-4EA9-80AD-D58C1E4838D7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FA8861-7973-4E8A-A7B5-48179B53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FB6A3E-59FE-4491-8E88-E6CAE845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666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77143-2AEC-4CE8-84D4-A1BD2D60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F5C598-5478-4FCB-BB55-A0B90F8C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4E68DE-2279-4343-AA9B-B6A2980936A6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74210C-A484-4768-8D94-B50EB4B11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F5DFB3-1FDC-4A94-A3E2-4DF4F0CE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1306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BC0A93-05C5-47A8-B764-849EB97F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46F4CE-D7DF-4D94-810A-68DC356C221F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1DECEF-2493-4A34-B75E-1CCC19B0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24B09-34A3-45EA-9D07-8FE353F4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1C2DCE-1FE1-455D-A450-A884A6CF7F83}"/>
              </a:ext>
            </a:extLst>
          </p:cNvPr>
          <p:cNvSpPr/>
          <p:nvPr userDrawn="1"/>
        </p:nvSpPr>
        <p:spPr>
          <a:xfrm>
            <a:off x="313248" y="702022"/>
            <a:ext cx="11565504" cy="590533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Bold" panose="020B0600000101010101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255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DA89C-2DC0-4E47-B5E2-00DFC41D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9EA24-87FB-4355-B3BE-A335A5836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0299A-0670-4FF2-AAF7-0781F6A1A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26FAC1-4CB7-45D5-BA8B-B45293F61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85A87C-8A59-40FB-A21F-6FE4938021EA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DBA167-0903-4686-BE99-6487706C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61D752-1A94-47F7-BA07-2C527703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321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D2203-E126-426C-8363-6C040ECE6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C83A88-4FA1-445F-B436-10AC26483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FC44A8-2FD9-40E9-9522-AF9E6D484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110F5D-3ECE-4725-90E7-B92CAFAFD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2E725A-3BE9-4B72-AA81-83FDCADA831F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2AB9C2-FEAE-47AB-A0A6-81B44CC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4E30AE-BC25-4B6E-87CA-4C108A06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24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DBDD2-0827-4EE3-BA8D-B2B519C1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9B098A-8989-49CE-BB0F-A3441B88A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A63F4-A04B-4770-AF23-E20D0136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4D417-F4E0-405D-9F8D-AB7615EDEE85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6B71EE-B227-49BA-8BF1-298B0A33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91A56-D4CF-4498-B2AD-5FF7650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893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06CE6A-50CA-4259-A10A-3C03A7E2D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53495F-F775-4624-BAD9-31411D515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244680-4C79-4CDD-9C1B-819FB44B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E1652C-75F4-4A3D-B8CE-ED9F331EB434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538765-3399-4DC7-819C-E7DC3CE5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09D14F-A20C-4388-AE09-F88AE4C3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19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623DE8-39EB-4AA7-A14B-FC293EDEB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268A24-A60C-48BE-B2A4-BB156B29D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416B3-2EFA-4929-877E-1CC921BC1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D25DC-961E-48F6-A1F1-3FA6B2F311AE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B6F03-FF83-4C5B-A8C1-0B394C085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317391-8FDE-4925-B668-232E5B2A3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1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623DE8-39EB-4AA7-A14B-FC293EDEB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268A24-A60C-48BE-B2A4-BB156B29D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416B3-2EFA-4929-877E-1CC921BC1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CD25DC-961E-48F6-A1F1-3FA6B2F311AE}" type="datetime1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2021-12-31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B6F03-FF83-4C5B-A8C1-0B394C085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317391-8FDE-4925-B668-232E5B2A3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88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/forest-cover-type-prediction/overview" TargetMode="External"/><Relationship Id="rId2" Type="http://schemas.openxmlformats.org/officeDocument/2006/relationships/hyperlink" Target="https://github.com/sdv-dev/CTGAN" TargetMode="Externa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scipy.org/" TargetMode="External"/><Relationship Id="rId4" Type="http://schemas.openxmlformats.org/officeDocument/2006/relationships/hyperlink" Target="https://matplotlib.org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mate.com/repo/INRIA/scikit-learn-mooc/issues/446" TargetMode="External"/><Relationship Id="rId3" Type="http://schemas.openxmlformats.org/officeDocument/2006/relationships/hyperlink" Target="https://arxiv.org/pdf/1603.02754.pdf" TargetMode="External"/><Relationship Id="rId7" Type="http://schemas.openxmlformats.org/officeDocument/2006/relationships/hyperlink" Target="https://greatjoy.tistory.com/72" TargetMode="External"/><Relationship Id="rId2" Type="http://schemas.openxmlformats.org/officeDocument/2006/relationships/hyperlink" Target="http://machinelearningkorea.com/2019/09/25/lightgbm%EC%9D%98-%ED%95%B5%EC%8B%AC%EC%9D%B4%ED%95%B4/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ycho.tistory.com/103" TargetMode="External"/><Relationship Id="rId5" Type="http://schemas.openxmlformats.org/officeDocument/2006/relationships/hyperlink" Target="https://nurilee.com/2020/04/03/lightgbm-definition-parameter-tuning/" TargetMode="External"/><Relationship Id="rId4" Type="http://schemas.openxmlformats.org/officeDocument/2006/relationships/hyperlink" Target="https://sumniya.tistory.com/26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3DFD87-BB1F-4ED6-8594-9E10933C4AF0}"/>
              </a:ext>
            </a:extLst>
          </p:cNvPr>
          <p:cNvSpPr/>
          <p:nvPr/>
        </p:nvSpPr>
        <p:spPr>
          <a:xfrm>
            <a:off x="0" y="2225675"/>
            <a:ext cx="12192000" cy="2406650"/>
          </a:xfrm>
          <a:prstGeom prst="rect">
            <a:avLst/>
          </a:prstGeom>
          <a:solidFill>
            <a:srgbClr val="FDFBF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3509C2-E0A2-4A20-A764-ACFA58100B20}"/>
              </a:ext>
            </a:extLst>
          </p:cNvPr>
          <p:cNvSpPr txBox="1"/>
          <p:nvPr/>
        </p:nvSpPr>
        <p:spPr>
          <a:xfrm>
            <a:off x="1581667" y="2471483"/>
            <a:ext cx="95093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Kaggle</a:t>
            </a:r>
            <a:r>
              <a:rPr lang="en-US" altLang="ko-KR" sz="72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_T.P.S Dec 2021</a:t>
            </a:r>
            <a:endParaRPr kumimoji="0" lang="ko-KR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675" y="3528785"/>
            <a:ext cx="2797429" cy="1349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7B96BA-F295-4AD5-AA9E-D77AD3177E08}"/>
              </a:ext>
            </a:extLst>
          </p:cNvPr>
          <p:cNvSpPr txBox="1"/>
          <p:nvPr/>
        </p:nvSpPr>
        <p:spPr>
          <a:xfrm>
            <a:off x="8926937" y="6181243"/>
            <a:ext cx="348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FC000"/>
                </a:solidFill>
              </a:rPr>
              <a:t>김         재        원</a:t>
            </a:r>
          </a:p>
        </p:txBody>
      </p:sp>
    </p:spTree>
    <p:extLst>
      <p:ext uri="{BB962C8B-B14F-4D97-AF65-F5344CB8AC3E}">
        <p14:creationId xmlns:p14="http://schemas.microsoft.com/office/powerpoint/2010/main" val="2794122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01.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프로젝트 목차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907033"/>
              </p:ext>
            </p:extLst>
          </p:nvPr>
        </p:nvGraphicFramePr>
        <p:xfrm>
          <a:off x="684939" y="991865"/>
          <a:ext cx="10807814" cy="4544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984">
                  <a:extLst>
                    <a:ext uri="{9D8B030D-6E8A-4147-A177-3AD203B41FA5}">
                      <a16:colId xmlns:a16="http://schemas.microsoft.com/office/drawing/2014/main" val="3206001083"/>
                    </a:ext>
                  </a:extLst>
                </a:gridCol>
                <a:gridCol w="655000">
                  <a:extLst>
                    <a:ext uri="{9D8B030D-6E8A-4147-A177-3AD203B41FA5}">
                      <a16:colId xmlns:a16="http://schemas.microsoft.com/office/drawing/2014/main" val="2034963181"/>
                    </a:ext>
                  </a:extLst>
                </a:gridCol>
                <a:gridCol w="2974912">
                  <a:extLst>
                    <a:ext uri="{9D8B030D-6E8A-4147-A177-3AD203B41FA5}">
                      <a16:colId xmlns:a16="http://schemas.microsoft.com/office/drawing/2014/main" val="2354963648"/>
                    </a:ext>
                  </a:extLst>
                </a:gridCol>
                <a:gridCol w="5972119">
                  <a:extLst>
                    <a:ext uri="{9D8B030D-6E8A-4147-A177-3AD203B41FA5}">
                      <a16:colId xmlns:a16="http://schemas.microsoft.com/office/drawing/2014/main" val="2545015523"/>
                    </a:ext>
                  </a:extLst>
                </a:gridCol>
                <a:gridCol w="652799">
                  <a:extLst>
                    <a:ext uri="{9D8B030D-6E8A-4147-A177-3AD203B41FA5}">
                      <a16:colId xmlns:a16="http://schemas.microsoft.com/office/drawing/2014/main" val="425156682"/>
                    </a:ext>
                  </a:extLst>
                </a:gridCol>
              </a:tblGrid>
              <a:tr h="446585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프로젝트의 개요 및 목적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249796"/>
                  </a:ext>
                </a:extLst>
              </a:tr>
              <a:tr h="440468">
                <a:tc>
                  <a:txBody>
                    <a:bodyPr/>
                    <a:lstStyle/>
                    <a:p>
                      <a:pPr latinLnBrk="1"/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1.1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 개요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507053"/>
                  </a:ext>
                </a:extLst>
              </a:tr>
              <a:tr h="440468">
                <a:tc>
                  <a:txBody>
                    <a:bodyPr/>
                    <a:lstStyle/>
                    <a:p>
                      <a:pPr latinLnBrk="1"/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셋 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920237"/>
                  </a:ext>
                </a:extLst>
              </a:tr>
              <a:tr h="446585">
                <a:tc>
                  <a:txBody>
                    <a:bodyPr/>
                    <a:lstStyle/>
                    <a:p>
                      <a:pPr latinLnBrk="1"/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1.3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T.P.S</a:t>
                      </a:r>
                      <a:r>
                        <a:rPr lang="en-US" altLang="ko-KR" b="0" i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란 무엇인가</a:t>
                      </a:r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45703"/>
                  </a:ext>
                </a:extLst>
              </a:tr>
              <a:tr h="446585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환경 설정 및</a:t>
                      </a:r>
                      <a:r>
                        <a:rPr lang="ko-KR" altLang="en-US" b="0" i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워크플로우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06836"/>
                  </a:ext>
                </a:extLst>
              </a:tr>
              <a:tr h="446585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Feature Engineering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63431"/>
                  </a:ext>
                </a:extLst>
              </a:tr>
              <a:tr h="446585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570117"/>
                  </a:ext>
                </a:extLst>
              </a:tr>
              <a:tr h="537526">
                <a:tc>
                  <a:txBody>
                    <a:bodyPr/>
                    <a:lstStyle/>
                    <a:p>
                      <a:pPr latinLnBrk="1"/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4.1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Light BGM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대해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835272"/>
                  </a:ext>
                </a:extLst>
              </a:tr>
              <a:tr h="446585">
                <a:tc>
                  <a:txBody>
                    <a:bodyPr/>
                    <a:lstStyle/>
                    <a:p>
                      <a:pPr latinLnBrk="1"/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4.2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성능 평가 지표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31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696664"/>
                  </a:ext>
                </a:extLst>
              </a:tr>
              <a:tr h="446585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참고 자료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+mn-ea"/>
                          <a:ea typeface="+mn-ea"/>
                        </a:rPr>
                        <a:t>--------------------------------------------</a:t>
                      </a:r>
                      <a:endParaRPr lang="ko-KR" altLang="en-US" b="0" i="0" dirty="0">
                        <a:solidFill>
                          <a:schemeClr val="bg1">
                            <a:lumMod val="8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34</a:t>
                      </a:r>
                      <a:endParaRPr lang="ko-KR" altLang="en-US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312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308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3DFD87-BB1F-4ED6-8594-9E10933C4AF0}"/>
              </a:ext>
            </a:extLst>
          </p:cNvPr>
          <p:cNvSpPr/>
          <p:nvPr/>
        </p:nvSpPr>
        <p:spPr>
          <a:xfrm>
            <a:off x="0" y="2225675"/>
            <a:ext cx="12192000" cy="2406650"/>
          </a:xfrm>
          <a:prstGeom prst="rect">
            <a:avLst/>
          </a:prstGeom>
          <a:solidFill>
            <a:srgbClr val="FDFBF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3509C2-E0A2-4A20-A764-ACFA58100B20}"/>
              </a:ext>
            </a:extLst>
          </p:cNvPr>
          <p:cNvSpPr txBox="1"/>
          <p:nvPr/>
        </p:nvSpPr>
        <p:spPr>
          <a:xfrm>
            <a:off x="932404" y="2348769"/>
            <a:ext cx="953979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1. </a:t>
            </a: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프로젝트의 개요 및 목적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570" y="3456765"/>
            <a:ext cx="2797429" cy="13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1.1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프로젝트 개요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91264" y="1156855"/>
            <a:ext cx="7590539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데이터 셋에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이상치와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결측치가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있는지</a:t>
            </a:r>
            <a:r>
              <a:rPr kumimoji="0" lang="ko-KR" alt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여부를 확인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+mn-ea"/>
              </a:rPr>
              <a:t>데이터 전처리 및 시각화 구현</a:t>
            </a:r>
            <a:endParaRPr lang="en-US" altLang="ko-KR" sz="2400" dirty="0">
              <a:solidFill>
                <a:prstClr val="black"/>
              </a:solidFill>
              <a:latin typeface="+mn-ea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모델 성능</a:t>
            </a:r>
            <a:r>
              <a:rPr kumimoji="0" lang="ko-KR" alt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평가 지표로 정확도를 측정함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500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2985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1.2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데이터셋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 설명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697677"/>
              </p:ext>
            </p:extLst>
          </p:nvPr>
        </p:nvGraphicFramePr>
        <p:xfrm>
          <a:off x="622999" y="983503"/>
          <a:ext cx="10753561" cy="22465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6290">
                  <a:extLst>
                    <a:ext uri="{9D8B030D-6E8A-4147-A177-3AD203B41FA5}">
                      <a16:colId xmlns:a16="http://schemas.microsoft.com/office/drawing/2014/main" val="3922145970"/>
                    </a:ext>
                  </a:extLst>
                </a:gridCol>
                <a:gridCol w="3817307">
                  <a:extLst>
                    <a:ext uri="{9D8B030D-6E8A-4147-A177-3AD203B41FA5}">
                      <a16:colId xmlns:a16="http://schemas.microsoft.com/office/drawing/2014/main" val="101259442"/>
                    </a:ext>
                  </a:extLst>
                </a:gridCol>
                <a:gridCol w="3163829">
                  <a:extLst>
                    <a:ext uri="{9D8B030D-6E8A-4147-A177-3AD203B41FA5}">
                      <a16:colId xmlns:a16="http://schemas.microsoft.com/office/drawing/2014/main" val="771148227"/>
                    </a:ext>
                  </a:extLst>
                </a:gridCol>
                <a:gridCol w="2116135">
                  <a:extLst>
                    <a:ext uri="{9D8B030D-6E8A-4147-A177-3AD203B41FA5}">
                      <a16:colId xmlns:a16="http://schemas.microsoft.com/office/drawing/2014/main" val="2354772844"/>
                    </a:ext>
                  </a:extLst>
                </a:gridCol>
              </a:tblGrid>
              <a:tr h="44931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데이터셋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구성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D0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정수형 데이터 개수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D0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크기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401545"/>
                  </a:ext>
                </a:extLst>
              </a:tr>
              <a:tr h="44931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총 데이터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train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55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547.96MB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48783"/>
                  </a:ext>
                </a:extLst>
              </a:tr>
              <a:tr h="44931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test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54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135.21MB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753146"/>
                  </a:ext>
                </a:extLst>
              </a:tr>
              <a:tr h="449317">
                <a:tc gridSpan="3">
                  <a:txBody>
                    <a:bodyPr/>
                    <a:lstStyle/>
                    <a:p>
                      <a:pPr algn="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전체 파일 크기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683.17MB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8330"/>
                  </a:ext>
                </a:extLst>
              </a:tr>
              <a:tr h="449317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데이터 출처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:</a:t>
                      </a:r>
                      <a:r>
                        <a:rPr lang="en-US" altLang="ko-KR" baseline="0" dirty="0">
                          <a:latin typeface="+mn-ea"/>
                          <a:ea typeface="+mn-ea"/>
                        </a:rPr>
                        <a:t> https://www.kaggle.com/kjw3226/t-p-s-do-it-eda-modeling/edit/run/83151678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3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442256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99" y="3507088"/>
            <a:ext cx="8200367" cy="1231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2999" y="3230088"/>
            <a:ext cx="238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data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98" y="5119958"/>
            <a:ext cx="8200368" cy="12186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2998" y="4738255"/>
            <a:ext cx="1918321" cy="381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Test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454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3986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1.3 </a:t>
            </a: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T.P.S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이란 무엇인가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?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9850" y="1100204"/>
            <a:ext cx="9927269" cy="3786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/>
              <a:t>Tabular Playground Series - Dec 2021 </a:t>
            </a:r>
            <a:r>
              <a:rPr lang="ko-KR" altLang="en-US" sz="2000" dirty="0">
                <a:solidFill>
                  <a:prstClr val="black"/>
                </a:solidFill>
                <a:latin typeface="+mn-ea"/>
              </a:rPr>
              <a:t>의</a:t>
            </a:r>
            <a:r>
              <a:rPr lang="en-US" altLang="ko-KR" sz="2000" dirty="0">
                <a:solidFill>
                  <a:prstClr val="black"/>
                </a:solidFill>
                <a:latin typeface="+mn-ea"/>
              </a:rPr>
              <a:t>  </a:t>
            </a:r>
            <a:r>
              <a:rPr lang="ko-KR" altLang="en-US" sz="2000" dirty="0">
                <a:solidFill>
                  <a:prstClr val="black"/>
                </a:solidFill>
                <a:latin typeface="+mn-ea"/>
              </a:rPr>
              <a:t>약자이다</a:t>
            </a:r>
            <a:r>
              <a:rPr lang="en-US" altLang="ko-KR" sz="2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2000" dirty="0">
                <a:latin typeface="+mn-ea"/>
              </a:rPr>
              <a:t>Kaggle </a:t>
            </a:r>
            <a:r>
              <a:rPr lang="ko-KR" altLang="en-US" sz="2000" dirty="0">
                <a:latin typeface="+mn-ea"/>
              </a:rPr>
              <a:t>에서 매달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일에 </a:t>
            </a:r>
            <a:r>
              <a:rPr lang="en-US" altLang="ko-KR" sz="2000" dirty="0">
                <a:latin typeface="+mn-ea"/>
              </a:rPr>
              <a:t>data scientists</a:t>
            </a:r>
            <a:r>
              <a:rPr lang="ko-KR" altLang="en-US" sz="2000" dirty="0">
                <a:latin typeface="+mn-ea"/>
              </a:rPr>
              <a:t>의 </a:t>
            </a:r>
            <a:r>
              <a:rPr lang="en-US" altLang="ko-KR" sz="2000" i="0" dirty="0">
                <a:effectLst/>
                <a:latin typeface="+mn-ea"/>
              </a:rPr>
              <a:t>Featured competitions (</a:t>
            </a:r>
            <a:r>
              <a:rPr lang="ko-KR" altLang="en-US" sz="2000" dirty="0">
                <a:latin typeface="+mn-ea"/>
              </a:rPr>
              <a:t>주요 대회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를 위해 </a:t>
            </a:r>
            <a:endParaRPr lang="en-US" altLang="ko-KR" sz="20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2000" dirty="0">
                <a:latin typeface="+mn-ea"/>
              </a:rPr>
              <a:t>data set</a:t>
            </a:r>
            <a:r>
              <a:rPr lang="ko-KR" altLang="en-US" sz="2000" dirty="0">
                <a:latin typeface="+mn-ea"/>
              </a:rPr>
              <a:t>을 </a:t>
            </a:r>
            <a:r>
              <a:rPr lang="en-US" altLang="ko-KR" sz="2000" i="0" dirty="0">
                <a:effectLst/>
                <a:latin typeface="+mn-ea"/>
              </a:rPr>
              <a:t>beginner- friendly </a:t>
            </a:r>
            <a:r>
              <a:rPr lang="en-US" altLang="ko-KR" sz="2000" b="0" i="0" dirty="0">
                <a:solidFill>
                  <a:srgbClr val="4A4A4A"/>
                </a:solidFill>
                <a:effectLst/>
                <a:latin typeface="Ubuntu"/>
              </a:rPr>
              <a:t>(</a:t>
            </a:r>
            <a:r>
              <a:rPr lang="ko-KR" altLang="en-US" sz="2000" dirty="0">
                <a:latin typeface="+mn-ea"/>
              </a:rPr>
              <a:t>초보자 친화적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으로 제공하는 대회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endParaRPr lang="ko-KR" altLang="en-US" sz="2400" dirty="0">
              <a:solidFill>
                <a:srgbClr val="4A4A4A"/>
              </a:solidFill>
              <a:latin typeface="Ubuntu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A4A4A"/>
                </a:solidFill>
                <a:latin typeface="Ubuntu"/>
              </a:rPr>
              <a:t> </a:t>
            </a:r>
            <a:r>
              <a:rPr lang="ko-KR" altLang="en-US" sz="2000" dirty="0">
                <a:latin typeface="+mn-ea"/>
              </a:rPr>
              <a:t>대회의 목적 </a:t>
            </a:r>
            <a:r>
              <a:rPr lang="en-US" altLang="ko-KR" sz="2000" dirty="0">
                <a:latin typeface="+mn-ea"/>
              </a:rPr>
              <a:t>: a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fun(</a:t>
            </a:r>
            <a:r>
              <a:rPr lang="ko-KR" altLang="en-US" sz="2000" dirty="0">
                <a:latin typeface="+mn-ea"/>
              </a:rPr>
              <a:t>재밋거리</a:t>
            </a:r>
            <a:r>
              <a:rPr lang="en-US" altLang="ko-KR" sz="2000" dirty="0">
                <a:latin typeface="+mn-ea"/>
              </a:rPr>
              <a:t>),</a:t>
            </a:r>
            <a:r>
              <a:rPr lang="en-US" altLang="ko-KR" sz="2000" b="0" i="0" dirty="0">
                <a:solidFill>
                  <a:srgbClr val="4A4A4A"/>
                </a:solidFill>
                <a:effectLst/>
                <a:latin typeface="Ubuntu"/>
              </a:rPr>
              <a:t> </a:t>
            </a:r>
            <a:r>
              <a:rPr lang="en-US" altLang="ko-KR" sz="2000" i="0" dirty="0">
                <a:effectLst/>
                <a:latin typeface="+mn-ea"/>
              </a:rPr>
              <a:t>and approachable(</a:t>
            </a:r>
            <a:r>
              <a:rPr lang="ko-KR" altLang="en-US" sz="2000" dirty="0">
                <a:latin typeface="+mn-ea"/>
              </a:rPr>
              <a:t>그리고 쉬운 접근성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을 위해 </a:t>
            </a:r>
            <a:endParaRPr lang="en-US" altLang="ko-KR" sz="20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2000" dirty="0">
                <a:latin typeface="+mn-ea"/>
              </a:rPr>
              <a:t>                    any one(</a:t>
            </a:r>
            <a:r>
              <a:rPr lang="ko-KR" altLang="en-US" sz="2000" dirty="0">
                <a:latin typeface="+mn-ea"/>
              </a:rPr>
              <a:t>누구나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에게 </a:t>
            </a:r>
            <a:r>
              <a:rPr lang="en-US" altLang="ko-KR" sz="2000" dirty="0">
                <a:latin typeface="+mn-ea"/>
              </a:rPr>
              <a:t>tabular dataset </a:t>
            </a:r>
            <a:r>
              <a:rPr lang="ko-KR" altLang="en-US" sz="2000" dirty="0">
                <a:latin typeface="+mn-ea"/>
              </a:rPr>
              <a:t>제공</a:t>
            </a:r>
            <a:r>
              <a:rPr lang="en-US" altLang="ko-KR" sz="2000" dirty="0">
                <a:latin typeface="+mn-ea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altLang="ko-KR" sz="2000" dirty="0">
                <a:latin typeface="+mn-ea"/>
              </a:rPr>
              <a:t>  dataset : </a:t>
            </a:r>
            <a:r>
              <a:rPr lang="en-US" altLang="ko-KR" sz="2000" dirty="0">
                <a:latin typeface="+mn-ea"/>
                <a:hlinkClick r:id="rId2"/>
              </a:rPr>
              <a:t>CTGAN</a:t>
            </a:r>
            <a:r>
              <a:rPr lang="ko-KR" altLang="en-US" sz="2000" dirty="0">
                <a:latin typeface="+mn-ea"/>
              </a:rPr>
              <a:t>에서 만들어진 </a:t>
            </a:r>
            <a:r>
              <a:rPr lang="ko-KR" altLang="en-US" sz="2000" dirty="0">
                <a:latin typeface="+mn-ea"/>
                <a:hlinkClick r:id="rId3"/>
              </a:rPr>
              <a:t>숲 토양 타입 예측 대회</a:t>
            </a:r>
            <a:r>
              <a:rPr lang="ko-KR" altLang="en-US" sz="2000" dirty="0">
                <a:latin typeface="+mn-ea"/>
              </a:rPr>
              <a:t> </a:t>
            </a:r>
            <a:r>
              <a:rPr lang="en-US" altLang="ko-KR" sz="2000" dirty="0">
                <a:latin typeface="+mn-ea"/>
              </a:rPr>
              <a:t>data.</a:t>
            </a:r>
          </a:p>
          <a:p>
            <a:pPr>
              <a:lnSpc>
                <a:spcPct val="200000"/>
              </a:lnSpc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629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3DFD87-BB1F-4ED6-8594-9E10933C4AF0}"/>
              </a:ext>
            </a:extLst>
          </p:cNvPr>
          <p:cNvSpPr/>
          <p:nvPr/>
        </p:nvSpPr>
        <p:spPr>
          <a:xfrm>
            <a:off x="0" y="2225675"/>
            <a:ext cx="12192000" cy="2406650"/>
          </a:xfrm>
          <a:prstGeom prst="rect">
            <a:avLst/>
          </a:prstGeom>
          <a:solidFill>
            <a:srgbClr val="FDFBF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3509C2-E0A2-4A20-A764-ACFA58100B20}"/>
              </a:ext>
            </a:extLst>
          </p:cNvPr>
          <p:cNvSpPr txBox="1"/>
          <p:nvPr/>
        </p:nvSpPr>
        <p:spPr>
          <a:xfrm>
            <a:off x="1326104" y="2481415"/>
            <a:ext cx="105528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2. </a:t>
            </a: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환경 설정 및 워크플로우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425" y="3429000"/>
            <a:ext cx="2797429" cy="13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58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458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2.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환경설정 및 워크플로우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86" y="856276"/>
            <a:ext cx="11361444" cy="51454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400" noProof="0" dirty="0">
                <a:solidFill>
                  <a:prstClr val="black"/>
                </a:solidFill>
                <a:latin typeface="+mn-ea"/>
              </a:rPr>
              <a:t>머신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러닝은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Kaggle Notebook </a:t>
            </a:r>
            <a:r>
              <a:rPr lang="ko-KR" altLang="en-US" sz="2400" dirty="0">
                <a:solidFill>
                  <a:prstClr val="black"/>
                </a:solidFill>
                <a:latin typeface="+mn-ea"/>
              </a:rPr>
              <a:t>에서는 실행 시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필수적으로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GPU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를 사용해야 함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2400" noProof="0" dirty="0">
                <a:solidFill>
                  <a:prstClr val="black"/>
                </a:solidFill>
                <a:latin typeface="+mn-ea"/>
              </a:rPr>
              <a:t>GPU </a:t>
            </a:r>
            <a:r>
              <a:rPr lang="ko-KR" altLang="en-US" sz="2400" noProof="0" dirty="0">
                <a:solidFill>
                  <a:prstClr val="black"/>
                </a:solidFill>
                <a:latin typeface="+mn-ea"/>
              </a:rPr>
              <a:t>무료 사용 </a:t>
            </a:r>
            <a:r>
              <a:rPr lang="en-US" altLang="ko-KR" sz="2400" noProof="0" dirty="0">
                <a:solidFill>
                  <a:prstClr val="black"/>
                </a:solidFill>
                <a:latin typeface="+mn-ea"/>
              </a:rPr>
              <a:t>– </a:t>
            </a:r>
            <a:r>
              <a:rPr lang="en-US" altLang="ko-KR" sz="2400" dirty="0">
                <a:solidFill>
                  <a:prstClr val="black"/>
                </a:solidFill>
                <a:latin typeface="+mn-ea"/>
              </a:rPr>
              <a:t>Google </a:t>
            </a:r>
            <a:r>
              <a:rPr lang="en-US" altLang="ko-KR" sz="2400" dirty="0" err="1">
                <a:solidFill>
                  <a:prstClr val="black"/>
                </a:solidFill>
                <a:latin typeface="+mn-ea"/>
              </a:rPr>
              <a:t>Colab</a:t>
            </a:r>
            <a:r>
              <a:rPr lang="en-US" altLang="ko-KR" sz="2400" dirty="0">
                <a:solidFill>
                  <a:prstClr val="black"/>
                </a:solidFill>
                <a:latin typeface="+mn-ea"/>
              </a:rPr>
              <a:t>, Kaggle Notebook. 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+mn-ea"/>
              </a:rPr>
              <a:t>머신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러닝 라이브러리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2400" dirty="0" err="1">
                <a:solidFill>
                  <a:prstClr val="black"/>
                </a:solidFill>
                <a:latin typeface="+mn-ea"/>
              </a:rPr>
              <a:t>Numpy</a:t>
            </a:r>
            <a:r>
              <a:rPr lang="en-US" altLang="ko-KR" sz="2400" dirty="0">
                <a:solidFill>
                  <a:prstClr val="black"/>
                </a:solidFill>
                <a:latin typeface="+mn-ea"/>
              </a:rPr>
              <a:t>: </a:t>
            </a:r>
            <a:r>
              <a:rPr lang="en-US" altLang="ko-KR" sz="2400" dirty="0">
                <a:solidFill>
                  <a:prstClr val="black"/>
                </a:solidFill>
                <a:latin typeface="+mn-ea"/>
                <a:hlinkClick r:id="rId2"/>
              </a:rPr>
              <a:t>https://www.tensorflow.org/</a:t>
            </a:r>
            <a:endParaRPr lang="en-US" altLang="ko-KR" sz="2400" dirty="0">
              <a:solidFill>
                <a:prstClr val="black"/>
              </a:solidFill>
              <a:latin typeface="+mn-ea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+mn-ea"/>
              </a:rPr>
              <a:t>Pandas: </a:t>
            </a:r>
            <a:r>
              <a:rPr lang="en-US" altLang="ko-KR" sz="2400" dirty="0">
                <a:solidFill>
                  <a:prstClr val="black"/>
                </a:solidFill>
                <a:latin typeface="+mn-ea"/>
                <a:hlinkClick r:id="rId3"/>
              </a:rPr>
              <a:t>https://pytorch.org/</a:t>
            </a:r>
            <a:endParaRPr lang="en-US" altLang="ko-KR" sz="2400" dirty="0">
              <a:solidFill>
                <a:prstClr val="black"/>
              </a:solidFill>
              <a:latin typeface="+mn-ea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400" dirty="0" err="1">
                <a:solidFill>
                  <a:prstClr val="black"/>
                </a:solidFill>
                <a:latin typeface="+mn-ea"/>
              </a:rPr>
              <a:t>Matplotlib</a:t>
            </a:r>
            <a:r>
              <a:rPr lang="en-US" altLang="ko-KR" sz="2400" dirty="0">
                <a:solidFill>
                  <a:prstClr val="black"/>
                </a:solidFill>
                <a:latin typeface="+mn-ea"/>
              </a:rPr>
              <a:t>: </a:t>
            </a:r>
            <a:r>
              <a:rPr lang="en-US" altLang="ko-KR" sz="2400" dirty="0">
                <a:solidFill>
                  <a:prstClr val="black"/>
                </a:solidFill>
                <a:latin typeface="+mn-ea"/>
                <a:hlinkClick r:id="rId4"/>
              </a:rPr>
              <a:t>https://matplotlib.org/</a:t>
            </a:r>
            <a:endParaRPr lang="en-US" altLang="ko-KR" sz="2400" dirty="0">
              <a:solidFill>
                <a:prstClr val="black"/>
              </a:solidFill>
              <a:latin typeface="+mn-ea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400" dirty="0" err="1">
                <a:solidFill>
                  <a:prstClr val="black"/>
                </a:solidFill>
                <a:latin typeface="+mn-ea"/>
              </a:rPr>
              <a:t>Scipy</a:t>
            </a:r>
            <a:r>
              <a:rPr lang="en-US" altLang="ko-KR" sz="2400" dirty="0">
                <a:solidFill>
                  <a:prstClr val="black"/>
                </a:solidFill>
                <a:latin typeface="+mn-ea"/>
              </a:rPr>
              <a:t>: </a:t>
            </a:r>
            <a:r>
              <a:rPr lang="en-US" altLang="ko-KR" sz="2400" dirty="0">
                <a:solidFill>
                  <a:prstClr val="black"/>
                </a:solidFill>
                <a:latin typeface="+mn-ea"/>
                <a:hlinkClick r:id="rId5"/>
              </a:rPr>
              <a:t>https://scipy.org/</a:t>
            </a:r>
            <a:endParaRPr lang="en-US" altLang="ko-KR" sz="24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677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482117"/>
              </p:ext>
            </p:extLst>
          </p:nvPr>
        </p:nvGraphicFramePr>
        <p:xfrm>
          <a:off x="1365914" y="1927876"/>
          <a:ext cx="9595011" cy="3097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746">
                  <a:extLst>
                    <a:ext uri="{9D8B030D-6E8A-4147-A177-3AD203B41FA5}">
                      <a16:colId xmlns:a16="http://schemas.microsoft.com/office/drawing/2014/main" val="4131362860"/>
                    </a:ext>
                  </a:extLst>
                </a:gridCol>
                <a:gridCol w="7650265">
                  <a:extLst>
                    <a:ext uri="{9D8B030D-6E8A-4147-A177-3AD203B41FA5}">
                      <a16:colId xmlns:a16="http://schemas.microsoft.com/office/drawing/2014/main" val="4136079477"/>
                    </a:ext>
                  </a:extLst>
                </a:gridCol>
              </a:tblGrid>
              <a:tr h="4425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라이브러리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D0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 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D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076184"/>
                  </a:ext>
                </a:extLst>
              </a:tr>
              <a:tr h="4425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Scipy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1.7.2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90869"/>
                  </a:ext>
                </a:extLst>
              </a:tr>
              <a:tr h="4425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Pandas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1.3.4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242258"/>
                  </a:ext>
                </a:extLst>
              </a:tr>
              <a:tr h="4425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Scikit</a:t>
                      </a: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-Learn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0.23.2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859672"/>
                  </a:ext>
                </a:extLst>
              </a:tr>
              <a:tr h="4425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Numpy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1.19.5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013109"/>
                  </a:ext>
                </a:extLst>
              </a:tr>
              <a:tr h="4425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Matplotlib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3.5.0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327121"/>
                  </a:ext>
                </a:extLst>
              </a:tr>
              <a:tr h="4425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Plotly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5.4.0</a:t>
                      </a:r>
                      <a:endParaRPr lang="ko-KR" altLang="en-US" sz="16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09205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1264" y="885549"/>
            <a:ext cx="4076757" cy="609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+mn-ea"/>
              </a:rPr>
              <a:t>프로젝트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주요 라이브러리 </a:t>
            </a:r>
            <a:r>
              <a:rPr lang="ko-KR" altLang="en-US" sz="2000" dirty="0">
                <a:solidFill>
                  <a:prstClr val="black"/>
                </a:solidFill>
                <a:latin typeface="+mn-ea"/>
              </a:rPr>
              <a:t>버전</a:t>
            </a:r>
            <a:endParaRPr lang="en-US" altLang="ko-KR" sz="2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458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2.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환경설정 및 워크플로우</a:t>
            </a:r>
          </a:p>
        </p:txBody>
      </p:sp>
    </p:spTree>
    <p:extLst>
      <p:ext uri="{BB962C8B-B14F-4D97-AF65-F5344CB8AC3E}">
        <p14:creationId xmlns:p14="http://schemas.microsoft.com/office/powerpoint/2010/main" val="58106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BE6CD90-963D-4B4E-964E-6B4431378A92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2481944" y="1276137"/>
            <a:ext cx="9327092" cy="1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9D31D9F-5D59-5D4E-886A-9613B035E84F}"/>
              </a:ext>
            </a:extLst>
          </p:cNvPr>
          <p:cNvCxnSpPr>
            <a:cxnSpLocks/>
            <a:stCxn id="41" idx="3"/>
            <a:endCxn id="73" idx="1"/>
          </p:cNvCxnSpPr>
          <p:nvPr/>
        </p:nvCxnSpPr>
        <p:spPr>
          <a:xfrm>
            <a:off x="2481945" y="5550114"/>
            <a:ext cx="8323399" cy="3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7247F0-7112-EE49-BBF5-F6C01B7842CF}"/>
              </a:ext>
            </a:extLst>
          </p:cNvPr>
          <p:cNvCxnSpPr>
            <a:cxnSpLocks/>
            <a:stCxn id="39" idx="3"/>
            <a:endCxn id="67" idx="1"/>
          </p:cNvCxnSpPr>
          <p:nvPr/>
        </p:nvCxnSpPr>
        <p:spPr>
          <a:xfrm flipV="1">
            <a:off x="2481945" y="4053246"/>
            <a:ext cx="69889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12B890D-1777-E944-AC36-DFDD9AD515E2}"/>
              </a:ext>
            </a:extLst>
          </p:cNvPr>
          <p:cNvCxnSpPr>
            <a:cxnSpLocks/>
            <a:stCxn id="40" idx="3"/>
            <a:endCxn id="50" idx="3"/>
          </p:cNvCxnSpPr>
          <p:nvPr/>
        </p:nvCxnSpPr>
        <p:spPr>
          <a:xfrm flipV="1">
            <a:off x="2481943" y="2556376"/>
            <a:ext cx="564315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458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2.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환경설정 및 워크플로우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39" name="직사각형 11">
            <a:extLst>
              <a:ext uri="{FF2B5EF4-FFF2-40B4-BE49-F238E27FC236}">
                <a16:creationId xmlns:a16="http://schemas.microsoft.com/office/drawing/2014/main" id="{1A289F47-B53B-AB45-9F88-DF1D2B4B9305}"/>
              </a:ext>
            </a:extLst>
          </p:cNvPr>
          <p:cNvSpPr/>
          <p:nvPr/>
        </p:nvSpPr>
        <p:spPr>
          <a:xfrm>
            <a:off x="828027" y="3382121"/>
            <a:ext cx="1653918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Test Data</a:t>
            </a:r>
            <a:endParaRPr kumimoji="1" lang="ko-Kore-KR" altLang="en-US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40" name="직사각형 12">
            <a:extLst>
              <a:ext uri="{FF2B5EF4-FFF2-40B4-BE49-F238E27FC236}">
                <a16:creationId xmlns:a16="http://schemas.microsoft.com/office/drawing/2014/main" id="{1887B2B2-46A5-2140-B7CB-E434D94157DD}"/>
              </a:ext>
            </a:extLst>
          </p:cNvPr>
          <p:cNvSpPr/>
          <p:nvPr/>
        </p:nvSpPr>
        <p:spPr>
          <a:xfrm>
            <a:off x="828026" y="1885252"/>
            <a:ext cx="1653917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Train Data</a:t>
            </a:r>
          </a:p>
        </p:txBody>
      </p:sp>
      <p:sp>
        <p:nvSpPr>
          <p:cNvPr id="41" name="직사각형 13">
            <a:extLst>
              <a:ext uri="{FF2B5EF4-FFF2-40B4-BE49-F238E27FC236}">
                <a16:creationId xmlns:a16="http://schemas.microsoft.com/office/drawing/2014/main" id="{D84F9EDA-7AD4-2048-B34A-DE678001CBED}"/>
              </a:ext>
            </a:extLst>
          </p:cNvPr>
          <p:cNvSpPr/>
          <p:nvPr/>
        </p:nvSpPr>
        <p:spPr>
          <a:xfrm>
            <a:off x="828027" y="4878988"/>
            <a:ext cx="1653918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Submission Data</a:t>
            </a:r>
            <a:endParaRPr kumimoji="1" lang="ko-Kore-KR" altLang="en-US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75" name="직사각형 10">
            <a:extLst>
              <a:ext uri="{FF2B5EF4-FFF2-40B4-BE49-F238E27FC236}">
                <a16:creationId xmlns:a16="http://schemas.microsoft.com/office/drawing/2014/main" id="{22115C76-C4D7-C240-BC84-0A789A14D16D}"/>
              </a:ext>
            </a:extLst>
          </p:cNvPr>
          <p:cNvSpPr/>
          <p:nvPr/>
        </p:nvSpPr>
        <p:spPr>
          <a:xfrm>
            <a:off x="828027" y="993136"/>
            <a:ext cx="1653917" cy="566002"/>
          </a:xfrm>
          <a:prstGeom prst="rect">
            <a:avLst/>
          </a:prstGeom>
          <a:solidFill>
            <a:srgbClr val="FAA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bg1">
                    <a:lumMod val="95000"/>
                  </a:schemeClr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데이터 수집</a:t>
            </a:r>
            <a:endParaRPr kumimoji="1" lang="ko-Kore-KR" altLang="en-US" dirty="0">
              <a:solidFill>
                <a:schemeClr val="bg1">
                  <a:lumMod val="95000"/>
                </a:schemeClr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76" name="직사각형 10">
            <a:extLst>
              <a:ext uri="{FF2B5EF4-FFF2-40B4-BE49-F238E27FC236}">
                <a16:creationId xmlns:a16="http://schemas.microsoft.com/office/drawing/2014/main" id="{B6226A17-BFDC-F34F-A611-6D630B269E0B}"/>
              </a:ext>
            </a:extLst>
          </p:cNvPr>
          <p:cNvSpPr/>
          <p:nvPr/>
        </p:nvSpPr>
        <p:spPr>
          <a:xfrm>
            <a:off x="2658678" y="991915"/>
            <a:ext cx="2838232" cy="566002"/>
          </a:xfrm>
          <a:prstGeom prst="rect">
            <a:avLst/>
          </a:prstGeom>
          <a:solidFill>
            <a:srgbClr val="FAA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bg1">
                    <a:lumMod val="95000"/>
                  </a:schemeClr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탐색적 자료 분석</a:t>
            </a:r>
            <a:endParaRPr kumimoji="1" lang="ko-Kore-KR" altLang="en-US" dirty="0">
              <a:solidFill>
                <a:schemeClr val="bg1">
                  <a:lumMod val="95000"/>
                </a:schemeClr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77" name="직사각형 10">
            <a:extLst>
              <a:ext uri="{FF2B5EF4-FFF2-40B4-BE49-F238E27FC236}">
                <a16:creationId xmlns:a16="http://schemas.microsoft.com/office/drawing/2014/main" id="{0F16E8EC-ED86-8448-B1A3-1326588D1BAF}"/>
              </a:ext>
            </a:extLst>
          </p:cNvPr>
          <p:cNvSpPr/>
          <p:nvPr/>
        </p:nvSpPr>
        <p:spPr>
          <a:xfrm>
            <a:off x="5673643" y="991915"/>
            <a:ext cx="2451453" cy="566002"/>
          </a:xfrm>
          <a:prstGeom prst="rect">
            <a:avLst/>
          </a:prstGeom>
          <a:solidFill>
            <a:srgbClr val="FAA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bg1">
                    <a:lumMod val="95000"/>
                  </a:schemeClr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Feature Engineering</a:t>
            </a:r>
            <a:endParaRPr kumimoji="1" lang="ko-Kore-KR" altLang="en-US" dirty="0">
              <a:solidFill>
                <a:schemeClr val="bg1">
                  <a:lumMod val="95000"/>
                </a:schemeClr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78" name="직사각형 10">
            <a:extLst>
              <a:ext uri="{FF2B5EF4-FFF2-40B4-BE49-F238E27FC236}">
                <a16:creationId xmlns:a16="http://schemas.microsoft.com/office/drawing/2014/main" id="{A0EF8916-338B-E849-8A72-8ECFCB465274}"/>
              </a:ext>
            </a:extLst>
          </p:cNvPr>
          <p:cNvSpPr/>
          <p:nvPr/>
        </p:nvSpPr>
        <p:spPr>
          <a:xfrm>
            <a:off x="8301829" y="991915"/>
            <a:ext cx="992336" cy="566002"/>
          </a:xfrm>
          <a:prstGeom prst="rect">
            <a:avLst/>
          </a:prstGeom>
          <a:solidFill>
            <a:srgbClr val="FAA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bg1">
                    <a:lumMod val="95000"/>
                  </a:schemeClr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모델링</a:t>
            </a:r>
            <a:endParaRPr kumimoji="1" lang="ko-Kore-KR" altLang="en-US" dirty="0">
              <a:solidFill>
                <a:schemeClr val="bg1">
                  <a:lumMod val="95000"/>
                </a:schemeClr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79" name="직사각형 10">
            <a:extLst>
              <a:ext uri="{FF2B5EF4-FFF2-40B4-BE49-F238E27FC236}">
                <a16:creationId xmlns:a16="http://schemas.microsoft.com/office/drawing/2014/main" id="{B9A12A93-293F-9E45-B606-BEEE5D0DFC95}"/>
              </a:ext>
            </a:extLst>
          </p:cNvPr>
          <p:cNvSpPr/>
          <p:nvPr/>
        </p:nvSpPr>
        <p:spPr>
          <a:xfrm>
            <a:off x="9470898" y="991915"/>
            <a:ext cx="992336" cy="566002"/>
          </a:xfrm>
          <a:prstGeom prst="rect">
            <a:avLst/>
          </a:prstGeom>
          <a:solidFill>
            <a:srgbClr val="FAA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>
                <a:solidFill>
                  <a:schemeClr val="bg1">
                    <a:lumMod val="95000"/>
                  </a:schemeClr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평가</a:t>
            </a:r>
            <a:endParaRPr kumimoji="1" lang="ko-Kore-KR" altLang="en-US" dirty="0">
              <a:solidFill>
                <a:schemeClr val="bg1">
                  <a:lumMod val="95000"/>
                </a:schemeClr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43" name="직사각형 12">
            <a:extLst>
              <a:ext uri="{FF2B5EF4-FFF2-40B4-BE49-F238E27FC236}">
                <a16:creationId xmlns:a16="http://schemas.microsoft.com/office/drawing/2014/main" id="{1887B2B2-46A5-2140-B7CB-E434D94157DD}"/>
              </a:ext>
            </a:extLst>
          </p:cNvPr>
          <p:cNvSpPr/>
          <p:nvPr/>
        </p:nvSpPr>
        <p:spPr>
          <a:xfrm>
            <a:off x="2658679" y="1885252"/>
            <a:ext cx="1325492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명목형</a:t>
            </a:r>
            <a:endParaRPr kumimoji="1" lang="en-US" altLang="ko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  <a:p>
            <a:pPr algn="ctr"/>
            <a:r>
              <a:rPr kumimoji="1" lang="ko-KR" altLang="en-US" sz="1400" dirty="0" err="1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연속형</a:t>
            </a:r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 </a:t>
            </a:r>
            <a:endParaRPr kumimoji="1" lang="en-US" altLang="ko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  <a:p>
            <a:pPr algn="ctr"/>
            <a:endParaRPr kumimoji="1" lang="en-US" altLang="ko-Kore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  <a:p>
            <a:pPr algn="ctr"/>
            <a:r>
              <a:rPr kumimoji="1" lang="en-US" altLang="ko-Kore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Column </a:t>
            </a:r>
          </a:p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분포 비교 확인</a:t>
            </a:r>
            <a:endParaRPr kumimoji="1" lang="en-US" altLang="ko-Kore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44" name="직사각형 12">
            <a:extLst>
              <a:ext uri="{FF2B5EF4-FFF2-40B4-BE49-F238E27FC236}">
                <a16:creationId xmlns:a16="http://schemas.microsoft.com/office/drawing/2014/main" id="{1887B2B2-46A5-2140-B7CB-E434D94157DD}"/>
              </a:ext>
            </a:extLst>
          </p:cNvPr>
          <p:cNvSpPr/>
          <p:nvPr/>
        </p:nvSpPr>
        <p:spPr>
          <a:xfrm>
            <a:off x="4160907" y="1885250"/>
            <a:ext cx="1336003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Soil_Type7</a:t>
            </a:r>
          </a:p>
          <a:p>
            <a:pPr algn="ctr"/>
            <a:r>
              <a:rPr kumimoji="1" lang="en-US" altLang="ko-Kore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Soil Type15 </a:t>
            </a:r>
          </a:p>
          <a:p>
            <a:pPr algn="ctr"/>
            <a:endParaRPr kumimoji="1" lang="en-US" altLang="ko-Kore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제거 </a:t>
            </a:r>
            <a:endParaRPr kumimoji="1" lang="en-US" altLang="ko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  <a:p>
            <a:pPr algn="ctr"/>
            <a:r>
              <a:rPr kumimoji="1" lang="en-US" altLang="ko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(All 0 values)</a:t>
            </a:r>
            <a:endParaRPr kumimoji="1" lang="en-US" altLang="ko-Kore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50" name="직사각형 12">
            <a:extLst>
              <a:ext uri="{FF2B5EF4-FFF2-40B4-BE49-F238E27FC236}">
                <a16:creationId xmlns:a16="http://schemas.microsoft.com/office/drawing/2014/main" id="{1887B2B2-46A5-2140-B7CB-E434D94157DD}"/>
              </a:ext>
            </a:extLst>
          </p:cNvPr>
          <p:cNvSpPr/>
          <p:nvPr/>
        </p:nvSpPr>
        <p:spPr>
          <a:xfrm>
            <a:off x="5673643" y="1885250"/>
            <a:ext cx="2451453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평균</a:t>
            </a:r>
            <a:r>
              <a:rPr kumimoji="1" lang="en-US" altLang="ko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, </a:t>
            </a:r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표준편차</a:t>
            </a:r>
            <a:r>
              <a:rPr kumimoji="1" lang="en-US" altLang="ko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, </a:t>
            </a:r>
          </a:p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최소</a:t>
            </a:r>
            <a:r>
              <a:rPr kumimoji="1" lang="en-US" altLang="ko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, </a:t>
            </a:r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최대 변수 추가</a:t>
            </a:r>
            <a:endParaRPr kumimoji="1" lang="en-US" altLang="ko-Kore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53" name="직사각형 10">
            <a:extLst>
              <a:ext uri="{FF2B5EF4-FFF2-40B4-BE49-F238E27FC236}">
                <a16:creationId xmlns:a16="http://schemas.microsoft.com/office/drawing/2014/main" id="{B9A12A93-293F-9E45-B606-BEEE5D0DFC95}"/>
              </a:ext>
            </a:extLst>
          </p:cNvPr>
          <p:cNvSpPr/>
          <p:nvPr/>
        </p:nvSpPr>
        <p:spPr>
          <a:xfrm>
            <a:off x="10639967" y="991915"/>
            <a:ext cx="992336" cy="566002"/>
          </a:xfrm>
          <a:prstGeom prst="rect">
            <a:avLst/>
          </a:prstGeom>
          <a:solidFill>
            <a:srgbClr val="FAA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bg1">
                    <a:lumMod val="95000"/>
                  </a:schemeClr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제출</a:t>
            </a:r>
            <a:endParaRPr kumimoji="1" lang="ko-Kore-KR" altLang="en-US" dirty="0">
              <a:solidFill>
                <a:schemeClr val="bg1">
                  <a:lumMod val="95000"/>
                </a:schemeClr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55" name="직사각형 12">
            <a:extLst>
              <a:ext uri="{FF2B5EF4-FFF2-40B4-BE49-F238E27FC236}">
                <a16:creationId xmlns:a16="http://schemas.microsoft.com/office/drawing/2014/main" id="{1887B2B2-46A5-2140-B7CB-E434D94157DD}"/>
              </a:ext>
            </a:extLst>
          </p:cNvPr>
          <p:cNvSpPr/>
          <p:nvPr/>
        </p:nvSpPr>
        <p:spPr>
          <a:xfrm>
            <a:off x="8301830" y="1905397"/>
            <a:ext cx="992336" cy="518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400" dirty="0" err="1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XGBoost</a:t>
            </a:r>
            <a:endParaRPr kumimoji="1" lang="en-US" altLang="ko-Kore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sp>
        <p:nvSpPr>
          <p:cNvPr id="58" name="직사각형 12">
            <a:extLst>
              <a:ext uri="{FF2B5EF4-FFF2-40B4-BE49-F238E27FC236}">
                <a16:creationId xmlns:a16="http://schemas.microsoft.com/office/drawing/2014/main" id="{1887B2B2-46A5-2140-B7CB-E434D94157DD}"/>
              </a:ext>
            </a:extLst>
          </p:cNvPr>
          <p:cNvSpPr/>
          <p:nvPr/>
        </p:nvSpPr>
        <p:spPr>
          <a:xfrm>
            <a:off x="8301829" y="2710004"/>
            <a:ext cx="992336" cy="518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Light</a:t>
            </a:r>
          </a:p>
          <a:p>
            <a:pPr algn="ctr"/>
            <a:r>
              <a:rPr kumimoji="1" lang="en-US" altLang="ko-Kore-KR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GBM</a:t>
            </a:r>
          </a:p>
        </p:txBody>
      </p:sp>
      <p:cxnSp>
        <p:nvCxnSpPr>
          <p:cNvPr id="59" name="Straight Arrow Connector 47">
            <a:extLst>
              <a:ext uri="{FF2B5EF4-FFF2-40B4-BE49-F238E27FC236}">
                <a16:creationId xmlns:a16="http://schemas.microsoft.com/office/drawing/2014/main" id="{E12B890D-1777-E944-AC36-DFDD9AD515E2}"/>
              </a:ext>
            </a:extLst>
          </p:cNvPr>
          <p:cNvCxnSpPr>
            <a:cxnSpLocks/>
            <a:stCxn id="50" idx="3"/>
            <a:endCxn id="55" idx="1"/>
          </p:cNvCxnSpPr>
          <p:nvPr/>
        </p:nvCxnSpPr>
        <p:spPr>
          <a:xfrm flipV="1">
            <a:off x="8125096" y="2164642"/>
            <a:ext cx="176734" cy="391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47">
            <a:extLst>
              <a:ext uri="{FF2B5EF4-FFF2-40B4-BE49-F238E27FC236}">
                <a16:creationId xmlns:a16="http://schemas.microsoft.com/office/drawing/2014/main" id="{E12B890D-1777-E944-AC36-DFDD9AD515E2}"/>
              </a:ext>
            </a:extLst>
          </p:cNvPr>
          <p:cNvCxnSpPr>
            <a:cxnSpLocks/>
            <a:stCxn id="50" idx="3"/>
            <a:endCxn id="58" idx="1"/>
          </p:cNvCxnSpPr>
          <p:nvPr/>
        </p:nvCxnSpPr>
        <p:spPr>
          <a:xfrm>
            <a:off x="8125096" y="2556376"/>
            <a:ext cx="176733" cy="412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7" name="직사각형 11">
            <a:extLst>
              <a:ext uri="{FF2B5EF4-FFF2-40B4-BE49-F238E27FC236}">
                <a16:creationId xmlns:a16="http://schemas.microsoft.com/office/drawing/2014/main" id="{1A289F47-B53B-AB45-9F88-DF1D2B4B9305}"/>
              </a:ext>
            </a:extLst>
          </p:cNvPr>
          <p:cNvSpPr/>
          <p:nvPr/>
        </p:nvSpPr>
        <p:spPr>
          <a:xfrm>
            <a:off x="9470898" y="3382120"/>
            <a:ext cx="992336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모형 평가</a:t>
            </a:r>
            <a:endParaRPr kumimoji="1" lang="ko-Kore-KR" altLang="en-US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cxnSp>
        <p:nvCxnSpPr>
          <p:cNvPr id="70" name="Straight Arrow Connector 47">
            <a:extLst>
              <a:ext uri="{FF2B5EF4-FFF2-40B4-BE49-F238E27FC236}">
                <a16:creationId xmlns:a16="http://schemas.microsoft.com/office/drawing/2014/main" id="{E12B890D-1777-E944-AC36-DFDD9AD515E2}"/>
              </a:ext>
            </a:extLst>
          </p:cNvPr>
          <p:cNvCxnSpPr>
            <a:cxnSpLocks/>
            <a:stCxn id="58" idx="3"/>
            <a:endCxn id="67" idx="0"/>
          </p:cNvCxnSpPr>
          <p:nvPr/>
        </p:nvCxnSpPr>
        <p:spPr>
          <a:xfrm>
            <a:off x="9294165" y="2969249"/>
            <a:ext cx="672901" cy="412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3" name="직사각형 13">
            <a:extLst>
              <a:ext uri="{FF2B5EF4-FFF2-40B4-BE49-F238E27FC236}">
                <a16:creationId xmlns:a16="http://schemas.microsoft.com/office/drawing/2014/main" id="{D84F9EDA-7AD4-2048-B34A-DE678001CBED}"/>
              </a:ext>
            </a:extLst>
          </p:cNvPr>
          <p:cNvSpPr/>
          <p:nvPr/>
        </p:nvSpPr>
        <p:spPr>
          <a:xfrm>
            <a:off x="10805344" y="4882529"/>
            <a:ext cx="826959" cy="1342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최종</a:t>
            </a:r>
            <a:endParaRPr kumimoji="1" lang="en-US" altLang="ko-KR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  <a:p>
            <a:pPr algn="ctr"/>
            <a:r>
              <a:rPr kumimoji="1" lang="ko-KR" altLang="en-US" sz="1400" dirty="0">
                <a:solidFill>
                  <a:schemeClr val="tx1"/>
                </a:solidFill>
                <a:latin typeface="KoPubDotum Medium" panose="02020603020101020101" pitchFamily="18" charset="-127"/>
                <a:ea typeface="KoPubDotum Medium" panose="02020603020101020101" pitchFamily="18" charset="-127"/>
              </a:rPr>
              <a:t>제출</a:t>
            </a:r>
            <a:endParaRPr kumimoji="1" lang="ko-Kore-KR" altLang="en-US" sz="1400" dirty="0">
              <a:solidFill>
                <a:schemeClr val="tx1"/>
              </a:solidFill>
              <a:latin typeface="KoPubDotum Medium" panose="02020603020101020101" pitchFamily="18" charset="-127"/>
              <a:ea typeface="KoPubDotum Medium" panose="02020603020101020101" pitchFamily="18" charset="-127"/>
            </a:endParaRPr>
          </a:p>
        </p:txBody>
      </p:sp>
      <p:cxnSp>
        <p:nvCxnSpPr>
          <p:cNvPr id="81" name="Straight Arrow Connector 47">
            <a:extLst>
              <a:ext uri="{FF2B5EF4-FFF2-40B4-BE49-F238E27FC236}">
                <a16:creationId xmlns:a16="http://schemas.microsoft.com/office/drawing/2014/main" id="{E12B890D-1777-E944-AC36-DFDD9AD515E2}"/>
              </a:ext>
            </a:extLst>
          </p:cNvPr>
          <p:cNvCxnSpPr>
            <a:cxnSpLocks/>
            <a:stCxn id="67" idx="3"/>
            <a:endCxn id="73" idx="0"/>
          </p:cNvCxnSpPr>
          <p:nvPr/>
        </p:nvCxnSpPr>
        <p:spPr>
          <a:xfrm>
            <a:off x="10463234" y="4053246"/>
            <a:ext cx="755590" cy="829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60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3DFD87-BB1F-4ED6-8594-9E10933C4AF0}"/>
              </a:ext>
            </a:extLst>
          </p:cNvPr>
          <p:cNvSpPr/>
          <p:nvPr/>
        </p:nvSpPr>
        <p:spPr>
          <a:xfrm>
            <a:off x="0" y="2225675"/>
            <a:ext cx="12192000" cy="2406650"/>
          </a:xfrm>
          <a:prstGeom prst="rect">
            <a:avLst/>
          </a:prstGeom>
          <a:solidFill>
            <a:srgbClr val="FDFBF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3509C2-E0A2-4A20-A764-ACFA58100B20}"/>
              </a:ext>
            </a:extLst>
          </p:cNvPr>
          <p:cNvSpPr txBox="1"/>
          <p:nvPr/>
        </p:nvSpPr>
        <p:spPr>
          <a:xfrm>
            <a:off x="1674313" y="2362818"/>
            <a:ext cx="928690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3.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571" y="3563675"/>
            <a:ext cx="2797429" cy="13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7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042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4926" y="706504"/>
            <a:ext cx="3733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j-ea"/>
                <a:ea typeface="+mj-ea"/>
              </a:rPr>
              <a:t>데이터 셋 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요약 통계량  시각화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5300" y="1197279"/>
            <a:ext cx="51181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</a:t>
            </a:r>
            <a:r>
              <a:rPr lang="en-US" altLang="ko-KR" dirty="0"/>
              <a:t>Soil_Type15,7</a:t>
            </a:r>
            <a:r>
              <a:rPr lang="ko-KR" altLang="en-US" dirty="0"/>
              <a:t>에는 값 없음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algn="l"/>
            <a:r>
              <a:rPr lang="en-US" altLang="ko-KR" i="0" dirty="0">
                <a:effectLst/>
                <a:latin typeface="+mn-ea"/>
              </a:rPr>
              <a:t>- Mean </a:t>
            </a:r>
            <a:r>
              <a:rPr lang="ko-KR" altLang="en-US" i="0" dirty="0">
                <a:effectLst/>
                <a:latin typeface="+mn-ea"/>
              </a:rPr>
              <a:t>값이 </a:t>
            </a:r>
            <a:r>
              <a:rPr lang="en-US" altLang="ko-KR" i="0" dirty="0">
                <a:effectLst/>
                <a:latin typeface="+mn-ea"/>
              </a:rPr>
              <a:t>0.001 </a:t>
            </a:r>
            <a:r>
              <a:rPr lang="ko-KR" altLang="en-US" i="0" dirty="0">
                <a:effectLst/>
                <a:latin typeface="+mn-ea"/>
              </a:rPr>
              <a:t>이하인 </a:t>
            </a:r>
            <a:r>
              <a:rPr lang="en-US" altLang="ko-KR" i="0" dirty="0" err="1">
                <a:effectLst/>
                <a:latin typeface="+mn-ea"/>
              </a:rPr>
              <a:t>soil_type</a:t>
            </a:r>
            <a:r>
              <a:rPr lang="en-US" altLang="ko-KR" i="0" dirty="0">
                <a:effectLst/>
                <a:latin typeface="+mn-ea"/>
              </a:rPr>
              <a:t> data</a:t>
            </a:r>
            <a:r>
              <a:rPr lang="ko-KR" altLang="en-US" dirty="0">
                <a:latin typeface="+mn-ea"/>
              </a:rPr>
              <a:t> 제</a:t>
            </a:r>
            <a:r>
              <a:rPr lang="ko-KR" altLang="en-US" i="0" dirty="0">
                <a:effectLst/>
                <a:latin typeface="+mn-ea"/>
              </a:rPr>
              <a:t>거 </a:t>
            </a:r>
            <a:r>
              <a:rPr lang="en-US" altLang="ko-KR" i="0" dirty="0">
                <a:effectLst/>
                <a:latin typeface="+mn-ea"/>
              </a:rPr>
              <a:t> </a:t>
            </a:r>
          </a:p>
          <a:p>
            <a:pPr marL="285750" indent="-285750" algn="l">
              <a:buFontTx/>
              <a:buChar char="-"/>
            </a:pPr>
            <a:r>
              <a:rPr lang="en-US" altLang="ko-KR" i="0" dirty="0">
                <a:effectLst/>
                <a:latin typeface="+mn-ea"/>
              </a:rPr>
              <a:t>type 3, 6, 7, 8, 15, 25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i="0" dirty="0">
                <a:effectLst/>
                <a:latin typeface="+mn-ea"/>
              </a:rPr>
              <a:t>type 3 </a:t>
            </a:r>
            <a:r>
              <a:rPr lang="ko-KR" altLang="en-US" i="0" dirty="0">
                <a:effectLst/>
                <a:latin typeface="+mn-ea"/>
              </a:rPr>
              <a:t>은 </a:t>
            </a:r>
            <a:r>
              <a:rPr lang="en-US" altLang="ko-KR" i="0" dirty="0">
                <a:effectLst/>
                <a:latin typeface="+mn-ea"/>
              </a:rPr>
              <a:t>4</a:t>
            </a:r>
            <a:r>
              <a:rPr lang="ko-KR" altLang="en-US" i="0" dirty="0">
                <a:effectLst/>
                <a:latin typeface="+mn-ea"/>
              </a:rPr>
              <a:t>와 </a:t>
            </a:r>
            <a:r>
              <a:rPr lang="ko-KR" altLang="en-US" i="0" dirty="0" err="1">
                <a:effectLst/>
                <a:latin typeface="+mn-ea"/>
              </a:rPr>
              <a:t>비슷한지</a:t>
            </a:r>
            <a:r>
              <a:rPr lang="ko-KR" altLang="en-US" i="0" dirty="0">
                <a:effectLst/>
                <a:latin typeface="+mn-ea"/>
              </a:rPr>
              <a:t> 확인 후 합치기 </a:t>
            </a:r>
            <a:r>
              <a:rPr lang="en-US" altLang="ko-KR" i="0" dirty="0">
                <a:effectLst/>
                <a:latin typeface="+mn-ea"/>
              </a:rPr>
              <a:t>(</a:t>
            </a:r>
            <a:r>
              <a:rPr lang="ko-KR" altLang="en-US" i="0" dirty="0">
                <a:effectLst/>
                <a:latin typeface="+mn-ea"/>
              </a:rPr>
              <a:t>혹은 </a:t>
            </a:r>
            <a:r>
              <a:rPr lang="en-US" altLang="ko-KR" i="0" dirty="0">
                <a:effectLst/>
                <a:latin typeface="+mn-ea"/>
              </a:rPr>
              <a:t>Drop)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i="0" dirty="0">
                <a:effectLst/>
                <a:latin typeface="+mn-ea"/>
              </a:rPr>
              <a:t>type 6 </a:t>
            </a:r>
            <a:r>
              <a:rPr lang="ko-KR" altLang="en-US" i="0" dirty="0">
                <a:effectLst/>
                <a:latin typeface="+mn-ea"/>
              </a:rPr>
              <a:t>은 </a:t>
            </a:r>
            <a:r>
              <a:rPr lang="en-US" altLang="ko-KR" i="0" dirty="0">
                <a:effectLst/>
                <a:latin typeface="+mn-ea"/>
              </a:rPr>
              <a:t>5</a:t>
            </a:r>
            <a:r>
              <a:rPr lang="ko-KR" altLang="en-US" i="0" dirty="0">
                <a:effectLst/>
                <a:latin typeface="+mn-ea"/>
              </a:rPr>
              <a:t>가 </a:t>
            </a:r>
            <a:r>
              <a:rPr lang="en-US" altLang="ko-KR" i="0" dirty="0" err="1">
                <a:effectLst/>
                <a:latin typeface="+mn-ea"/>
              </a:rPr>
              <a:t>s.f</a:t>
            </a:r>
            <a:r>
              <a:rPr lang="en-US" altLang="ko-KR" i="0" dirty="0">
                <a:effectLst/>
                <a:latin typeface="+mn-ea"/>
              </a:rPr>
              <a:t> family : </a:t>
            </a:r>
            <a:r>
              <a:rPr lang="ko-KR" altLang="en-US" i="0" dirty="0">
                <a:effectLst/>
                <a:latin typeface="+mn-ea"/>
              </a:rPr>
              <a:t>합치기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i="0" dirty="0">
                <a:effectLst/>
                <a:latin typeface="+mn-ea"/>
              </a:rPr>
              <a:t>type 8 drop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i="0" dirty="0">
                <a:effectLst/>
                <a:latin typeface="+mn-ea"/>
              </a:rPr>
              <a:t>type 25 beast family </a:t>
            </a:r>
            <a:r>
              <a:rPr lang="ko-KR" altLang="en-US" i="0" dirty="0">
                <a:effectLst/>
                <a:latin typeface="+mn-ea"/>
              </a:rPr>
              <a:t>로 합치기</a:t>
            </a:r>
            <a:endParaRPr lang="en-US" altLang="ko-KR" i="0" dirty="0">
              <a:effectLst/>
              <a:latin typeface="+mn-ea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type 15, 7 drop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ko-KR" altLang="en-US" i="0" dirty="0">
              <a:effectLst/>
              <a:latin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i="0" dirty="0">
                <a:effectLst/>
                <a:latin typeface="+mn-ea"/>
              </a:rPr>
              <a:t>먼저 그냥 했을 때</a:t>
            </a:r>
            <a:r>
              <a:rPr lang="en-US" altLang="ko-KR" i="0" dirty="0">
                <a:effectLst/>
                <a:latin typeface="+mn-ea"/>
              </a:rPr>
              <a:t>, </a:t>
            </a:r>
          </a:p>
          <a:p>
            <a:pPr algn="l"/>
            <a:r>
              <a:rPr lang="en-US" altLang="ko-KR" dirty="0">
                <a:latin typeface="+mn-ea"/>
              </a:rPr>
              <a:t>    </a:t>
            </a:r>
            <a:r>
              <a:rPr lang="en-US" altLang="ko-KR" i="0" dirty="0">
                <a:effectLst/>
                <a:latin typeface="+mn-ea"/>
              </a:rPr>
              <a:t>EDA </a:t>
            </a:r>
            <a:r>
              <a:rPr lang="ko-KR" altLang="en-US" i="0" dirty="0">
                <a:effectLst/>
                <a:latin typeface="+mn-ea"/>
              </a:rPr>
              <a:t>후 </a:t>
            </a:r>
            <a:r>
              <a:rPr lang="en-US" altLang="ko-KR" i="0" dirty="0">
                <a:effectLst/>
                <a:latin typeface="+mn-ea"/>
              </a:rPr>
              <a:t>score </a:t>
            </a:r>
            <a:r>
              <a:rPr lang="ko-KR" altLang="en-US" i="0" dirty="0">
                <a:effectLst/>
                <a:latin typeface="+mn-ea"/>
              </a:rPr>
              <a:t>확인 후 진행</a:t>
            </a:r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DDB16A-3471-4E42-B2A0-CC3A382F7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75836"/>
            <a:ext cx="6464300" cy="20695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C191566-6169-4061-9AB3-4E3E6E1F4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913" y="3164902"/>
            <a:ext cx="5473700" cy="107038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D59005B-FB7C-47ED-94D8-9296CA8C71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26" y="4254794"/>
            <a:ext cx="5715000" cy="20807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DB97BBD-92AD-4FA4-8CAE-013038A1F5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8" y="4492959"/>
            <a:ext cx="6464301" cy="24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68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042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7700" y="1041612"/>
            <a:ext cx="5622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연속형 </a:t>
            </a:r>
            <a:r>
              <a:rPr lang="en-US" altLang="ko-KR" b="1" dirty="0">
                <a:latin typeface="+mn-ea"/>
              </a:rPr>
              <a:t>,</a:t>
            </a:r>
            <a:r>
              <a:rPr lang="ko-KR" altLang="en-US" b="1" dirty="0">
                <a:latin typeface="+mn-ea"/>
              </a:rPr>
              <a:t>명목형 데이터와 총 데이터 개수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C57448CD-74E0-4663-B9CF-61DD0DA21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877271"/>
              </p:ext>
            </p:extLst>
          </p:nvPr>
        </p:nvGraphicFramePr>
        <p:xfrm>
          <a:off x="647700" y="2220734"/>
          <a:ext cx="10896600" cy="1208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2200">
                  <a:extLst>
                    <a:ext uri="{9D8B030D-6E8A-4147-A177-3AD203B41FA5}">
                      <a16:colId xmlns:a16="http://schemas.microsoft.com/office/drawing/2014/main" val="3375002808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3687412946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968480526"/>
                    </a:ext>
                  </a:extLst>
                </a:gridCol>
              </a:tblGrid>
              <a:tr h="58136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Number of categorical features (</a:t>
                      </a:r>
                      <a:r>
                        <a:rPr lang="ko-KR" altLang="en-US" dirty="0"/>
                        <a:t>명목형 데이터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Number of </a:t>
                      </a:r>
                      <a:r>
                        <a:rPr lang="en-US" altLang="ko-KR" dirty="0" err="1"/>
                        <a:t>continuos</a:t>
                      </a:r>
                      <a:r>
                        <a:rPr lang="en-US" altLang="ko-KR" dirty="0"/>
                        <a:t> features</a:t>
                      </a:r>
                    </a:p>
                    <a:p>
                      <a:pPr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연속형 데이터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Total number of features</a:t>
                      </a:r>
                    </a:p>
                    <a:p>
                      <a:pPr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총 데이터 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23775"/>
                  </a:ext>
                </a:extLst>
              </a:tr>
              <a:tr h="568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44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10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54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318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950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66699" y="150918"/>
            <a:ext cx="4042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3714" y="1041612"/>
            <a:ext cx="348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 err="1">
                <a:latin typeface="+mn-ea"/>
              </a:rPr>
              <a:t>연속형</a:t>
            </a:r>
            <a:r>
              <a:rPr lang="ko-KR" altLang="en-US" b="1" dirty="0">
                <a:latin typeface="+mn-ea"/>
              </a:rPr>
              <a:t> 데이터의 분포 시각화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07" y="1753213"/>
            <a:ext cx="8938986" cy="406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9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042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3714" y="1041612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범주형 데이터의 특징 분포 시각화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01" y="2020191"/>
            <a:ext cx="6050519" cy="32643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645" y="2020191"/>
            <a:ext cx="4913769" cy="132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34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042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E5BD0-B257-45F6-B7BE-8954F98D8073}"/>
              </a:ext>
            </a:extLst>
          </p:cNvPr>
          <p:cNvSpPr txBox="1"/>
          <p:nvPr/>
        </p:nvSpPr>
        <p:spPr>
          <a:xfrm>
            <a:off x="431800" y="863599"/>
            <a:ext cx="97790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&lt;Standard Scaler&gt;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표준화란</a:t>
            </a:r>
            <a:r>
              <a:rPr lang="en-US" altLang="ko-KR" dirty="0"/>
              <a:t>, </a:t>
            </a:r>
            <a:r>
              <a:rPr lang="ko-KR" altLang="en-US" dirty="0"/>
              <a:t>특</a:t>
            </a:r>
            <a:r>
              <a:rPr lang="ko-KR" altLang="en-US" b="0" i="0" dirty="0">
                <a:effectLst/>
                <a:latin typeface="+mn-ea"/>
              </a:rPr>
              <a:t>성들의 단위를 무시할 수 있도록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b="0" i="0" dirty="0">
                <a:effectLst/>
                <a:latin typeface="+mn-ea"/>
              </a:rPr>
              <a:t>특성들의 값의 범위를 비슷하게 만들어줄</a:t>
            </a:r>
            <a:endParaRPr lang="en-US" altLang="ko-KR" b="0" i="0" dirty="0">
              <a:effectLst/>
              <a:latin typeface="+mn-ea"/>
            </a:endParaRPr>
          </a:p>
          <a:p>
            <a:r>
              <a:rPr lang="ko-KR" altLang="en-US" b="0" i="0" dirty="0">
                <a:effectLst/>
                <a:latin typeface="+mn-ea"/>
              </a:rPr>
              <a:t> </a:t>
            </a:r>
            <a:endParaRPr lang="en-US" altLang="ko-KR" b="0" i="0" dirty="0">
              <a:effectLst/>
              <a:latin typeface="+mn-ea"/>
            </a:endParaRPr>
          </a:p>
          <a:p>
            <a:r>
              <a:rPr lang="ko-KR" altLang="en-US" b="0" i="0" dirty="0">
                <a:effectLst/>
                <a:latin typeface="+mn-ea"/>
              </a:rPr>
              <a:t>    필요가 있는데 이것이 정규화 또는 표준화를 해주는 이유이다</a:t>
            </a:r>
            <a:r>
              <a:rPr lang="en-US" altLang="ko-KR" b="0" i="0" dirty="0">
                <a:effectLst/>
                <a:latin typeface="+mn-ea"/>
              </a:rPr>
              <a:t>. 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표준화를 쉽게 지원하기 위한 클래스이다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i="0" dirty="0">
                <a:effectLst/>
                <a:latin typeface="+mn-ea"/>
              </a:rPr>
              <a:t>평균이 </a:t>
            </a:r>
            <a:r>
              <a:rPr lang="en-US" altLang="ko-KR" i="0" dirty="0">
                <a:effectLst/>
                <a:latin typeface="+mn-ea"/>
              </a:rPr>
              <a:t>0</a:t>
            </a:r>
            <a:r>
              <a:rPr lang="ko-KR" altLang="en-US" i="0" dirty="0">
                <a:effectLst/>
                <a:latin typeface="+mn-ea"/>
              </a:rPr>
              <a:t>이고 분산이 </a:t>
            </a:r>
            <a:r>
              <a:rPr lang="en-US" altLang="ko-KR" i="0" dirty="0">
                <a:effectLst/>
                <a:latin typeface="+mn-ea"/>
              </a:rPr>
              <a:t>1</a:t>
            </a:r>
            <a:r>
              <a:rPr lang="ko-KR" altLang="en-US" i="0" dirty="0">
                <a:effectLst/>
                <a:latin typeface="+mn-ea"/>
              </a:rPr>
              <a:t>인 정규 분포로 만드는 것이다</a:t>
            </a:r>
            <a:r>
              <a:rPr lang="en-US" altLang="ko-KR" i="0" dirty="0">
                <a:effectLst/>
                <a:latin typeface="+mn-ea"/>
              </a:rPr>
              <a:t>.</a:t>
            </a:r>
          </a:p>
          <a:p>
            <a:endParaRPr lang="en-US" altLang="ko-KR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latin typeface="+mn-ea"/>
              </a:rPr>
              <a:t>Standerd</a:t>
            </a:r>
            <a:r>
              <a:rPr lang="en-US" altLang="ko-KR" dirty="0">
                <a:latin typeface="+mn-ea"/>
              </a:rPr>
              <a:t> Scaler</a:t>
            </a:r>
            <a:r>
              <a:rPr lang="ko-KR" altLang="en-US" dirty="0">
                <a:latin typeface="+mn-ea"/>
              </a:rPr>
              <a:t>는 표준화를 할 때 사용하고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정규화는 </a:t>
            </a:r>
            <a:r>
              <a:rPr lang="en-US" altLang="ko-KR" b="0" i="0" dirty="0" err="1">
                <a:effectLst/>
                <a:latin typeface="AppleSDGothicNeo"/>
              </a:rPr>
              <a:t>MinMaxScaler</a:t>
            </a:r>
            <a:r>
              <a:rPr lang="ko-KR" altLang="en-US" b="0" i="0" dirty="0">
                <a:effectLst/>
                <a:latin typeface="AppleSDGothicNeo"/>
              </a:rPr>
              <a:t>를 사용한다</a:t>
            </a:r>
            <a:r>
              <a:rPr lang="en-US" altLang="ko-KR" b="0" i="0" dirty="0">
                <a:effectLst/>
                <a:latin typeface="AppleSDGothicNeo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AppleSDGothicNeo"/>
            </a:endParaRPr>
          </a:p>
          <a:p>
            <a:pPr marL="285750" indent="-285750">
              <a:buFontTx/>
              <a:buChar char="-"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+mn-ea"/>
              </a:rPr>
              <a:t>보통의 </a:t>
            </a:r>
            <a:r>
              <a:rPr lang="en-US" altLang="ko-KR" i="0" dirty="0">
                <a:effectLst/>
                <a:latin typeface="+mn-ea"/>
              </a:rPr>
              <a:t>Scikit-learn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+mn-ea"/>
              </a:rPr>
              <a:t>함수들과 비슷하게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n-ea"/>
              </a:rPr>
              <a:t>fit, transform,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+mn-ea"/>
              </a:rPr>
              <a:t>fit_transform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+mn-ea"/>
              </a:rPr>
              <a:t>다 지원한다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n-ea"/>
              </a:rPr>
              <a:t>.</a:t>
            </a:r>
            <a:br>
              <a:rPr lang="ko-KR" altLang="en-US" dirty="0">
                <a:latin typeface="+mn-ea"/>
              </a:rPr>
            </a:b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976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27E998-3E92-4B44-A0A8-0135C547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800F3-FE8F-434F-ADCE-EAE76E508D0D}"/>
              </a:ext>
            </a:extLst>
          </p:cNvPr>
          <p:cNvSpPr txBox="1"/>
          <p:nvPr/>
        </p:nvSpPr>
        <p:spPr>
          <a:xfrm>
            <a:off x="228599" y="183284"/>
            <a:ext cx="4042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9A97F66-C285-45C5-80DA-2AAFF0831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35" y="2331264"/>
            <a:ext cx="10271330" cy="285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BF6E6E-0049-48D6-ACB6-4C8EAE854893}"/>
              </a:ext>
            </a:extLst>
          </p:cNvPr>
          <p:cNvSpPr txBox="1"/>
          <p:nvPr/>
        </p:nvSpPr>
        <p:spPr>
          <a:xfrm>
            <a:off x="1997075" y="1157182"/>
            <a:ext cx="819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&lt; </a:t>
            </a:r>
            <a:r>
              <a:rPr lang="ko-KR" altLang="en-US" sz="2400" dirty="0"/>
              <a:t>표준화를 해주게 되면 어떻게 바뀌는지 보여주는 사진</a:t>
            </a:r>
            <a:r>
              <a:rPr lang="en-US" altLang="ko-KR" sz="2400" dirty="0"/>
              <a:t>&gt;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72DDE-1A9B-4530-9CFE-CC159337DF06}"/>
              </a:ext>
            </a:extLst>
          </p:cNvPr>
          <p:cNvSpPr txBox="1"/>
          <p:nvPr/>
        </p:nvSpPr>
        <p:spPr>
          <a:xfrm>
            <a:off x="1765300" y="5270500"/>
            <a:ext cx="332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       &lt; </a:t>
            </a:r>
            <a:r>
              <a:rPr lang="ko-KR" altLang="en-US" dirty="0"/>
              <a:t>정규 분포 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201EC-0488-402D-B811-749D0EE91757}"/>
              </a:ext>
            </a:extLst>
          </p:cNvPr>
          <p:cNvSpPr txBox="1"/>
          <p:nvPr/>
        </p:nvSpPr>
        <p:spPr>
          <a:xfrm>
            <a:off x="6819900" y="5270500"/>
            <a:ext cx="360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     &lt; </a:t>
            </a:r>
            <a:r>
              <a:rPr lang="ko-KR" altLang="en-US" dirty="0"/>
              <a:t>표준 정규 분포 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5711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4042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3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Feature Engineering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5F2E81-7904-4DB6-8DB5-5F10EF402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176224"/>
            <a:ext cx="11150600" cy="338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799839-A85C-4D79-819E-D38FC79F8AE8}"/>
              </a:ext>
            </a:extLst>
          </p:cNvPr>
          <p:cNvSpPr txBox="1"/>
          <p:nvPr/>
        </p:nvSpPr>
        <p:spPr>
          <a:xfrm>
            <a:off x="482600" y="787400"/>
            <a:ext cx="613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&lt; Standard Scaler</a:t>
            </a:r>
            <a:r>
              <a:rPr lang="ko-KR" altLang="en-US" sz="2400" dirty="0"/>
              <a:t>가 적용 된 모습</a:t>
            </a:r>
            <a:r>
              <a:rPr lang="en-US" altLang="ko-KR" sz="2400" dirty="0"/>
              <a:t>&gt;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01480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3DFD87-BB1F-4ED6-8594-9E10933C4AF0}"/>
              </a:ext>
            </a:extLst>
          </p:cNvPr>
          <p:cNvSpPr/>
          <p:nvPr/>
        </p:nvSpPr>
        <p:spPr>
          <a:xfrm>
            <a:off x="-44084" y="2225675"/>
            <a:ext cx="12236083" cy="2406650"/>
          </a:xfrm>
          <a:prstGeom prst="rect">
            <a:avLst/>
          </a:prstGeom>
          <a:solidFill>
            <a:srgbClr val="FDFBF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3509C2-E0A2-4A20-A764-ACFA58100B20}"/>
              </a:ext>
            </a:extLst>
          </p:cNvPr>
          <p:cNvSpPr txBox="1"/>
          <p:nvPr/>
        </p:nvSpPr>
        <p:spPr>
          <a:xfrm>
            <a:off x="4207100" y="2393066"/>
            <a:ext cx="37337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4. </a:t>
            </a: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모델</a:t>
            </a:r>
            <a:r>
              <a:rPr lang="ko-KR" altLang="en-US" sz="66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링</a:t>
            </a:r>
            <a:endParaRPr kumimoji="0" lang="ko-KR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570" y="3501062"/>
            <a:ext cx="2797429" cy="13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34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1691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모델</a:t>
            </a:r>
            <a:r>
              <a:rPr lang="ko-KR" altLang="en-US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링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90EAD-7E22-46C0-878D-88AAD404C996}"/>
              </a:ext>
            </a:extLst>
          </p:cNvPr>
          <p:cNvSpPr txBox="1"/>
          <p:nvPr/>
        </p:nvSpPr>
        <p:spPr>
          <a:xfrm>
            <a:off x="495300" y="706504"/>
            <a:ext cx="114194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&lt; Light BGM </a:t>
            </a:r>
            <a:r>
              <a:rPr lang="ko-KR" altLang="en-US" sz="2400" dirty="0"/>
              <a:t>선정 이유</a:t>
            </a:r>
            <a:r>
              <a:rPr lang="en-US" altLang="ko-KR" sz="2400" dirty="0"/>
              <a:t>&gt;</a:t>
            </a:r>
          </a:p>
          <a:p>
            <a:endParaRPr lang="en-US" altLang="ko-KR" sz="2400" dirty="0"/>
          </a:p>
          <a:p>
            <a:r>
              <a:rPr lang="ko-KR" altLang="en-US" sz="2400" dirty="0"/>
              <a:t>여러가지 머신 러닝 프레임워크 중 </a:t>
            </a:r>
            <a:r>
              <a:rPr lang="en-US" altLang="ko-KR" sz="2400" dirty="0"/>
              <a:t>Light BGM</a:t>
            </a:r>
            <a:r>
              <a:rPr lang="ko-KR" altLang="en-US" sz="2400" dirty="0"/>
              <a:t>을 선정한 이유는 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다른 모델들과 비교해서</a:t>
            </a:r>
            <a:r>
              <a:rPr lang="en-US" altLang="ko-KR" sz="2400" dirty="0"/>
              <a:t> </a:t>
            </a:r>
            <a:r>
              <a:rPr lang="ko-KR" altLang="en-US" sz="2400" dirty="0"/>
              <a:t>계산 속도가 월등히 높고</a:t>
            </a:r>
            <a:r>
              <a:rPr lang="en-US" altLang="ko-KR" sz="2400" dirty="0"/>
              <a:t>, </a:t>
            </a:r>
          </a:p>
          <a:p>
            <a:endParaRPr lang="en-US" altLang="ko-KR" sz="2400" dirty="0"/>
          </a:p>
          <a:p>
            <a:r>
              <a:rPr lang="en-US" altLang="ko-KR" sz="2400" dirty="0"/>
              <a:t>AUC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i="0" dirty="0">
                <a:effectLst/>
                <a:latin typeface="+mn-ea"/>
              </a:rPr>
              <a:t>좋은 모델인지 아닌지를 판단하기 위한 정량화를 한 것</a:t>
            </a:r>
            <a:r>
              <a:rPr lang="en-US" altLang="ko-KR" sz="2400" i="0" dirty="0">
                <a:effectLst/>
                <a:latin typeface="+mn-ea"/>
              </a:rPr>
              <a:t>)</a:t>
            </a:r>
            <a:r>
              <a:rPr lang="ko-KR" altLang="en-US" sz="2400" dirty="0"/>
              <a:t>도 월등히 높기 때문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FD98A03-AFBE-4819-A001-08E38429E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3660997"/>
            <a:ext cx="94869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D55C0-4972-4EFB-893C-ACAFD3EA59A3}"/>
              </a:ext>
            </a:extLst>
          </p:cNvPr>
          <p:cNvSpPr txBox="1"/>
          <p:nvPr/>
        </p:nvSpPr>
        <p:spPr>
          <a:xfrm>
            <a:off x="4420665" y="5966830"/>
            <a:ext cx="356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&lt;Light BGM </a:t>
            </a:r>
            <a:r>
              <a:rPr lang="ko-KR" altLang="en-US" dirty="0"/>
              <a:t>계산 속도 비교표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3701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1691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모델</a:t>
            </a:r>
            <a:r>
              <a:rPr lang="ko-KR" altLang="en-US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링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90EAD-7E22-46C0-878D-88AAD404C996}"/>
              </a:ext>
            </a:extLst>
          </p:cNvPr>
          <p:cNvSpPr txBox="1"/>
          <p:nvPr/>
        </p:nvSpPr>
        <p:spPr>
          <a:xfrm>
            <a:off x="495300" y="706504"/>
            <a:ext cx="1141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&lt; Light BGM </a:t>
            </a:r>
            <a:r>
              <a:rPr lang="ko-KR" altLang="en-US" sz="2400" dirty="0"/>
              <a:t>선정 이유</a:t>
            </a:r>
            <a:r>
              <a:rPr lang="en-US" altLang="ko-KR" sz="2400" dirty="0"/>
              <a:t>&gt;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697140F-6FC7-4786-837A-9A38485BF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952" y="1691389"/>
            <a:ext cx="6334125" cy="477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53FEC8-B50A-4F8F-86B5-595267ACC709}"/>
              </a:ext>
            </a:extLst>
          </p:cNvPr>
          <p:cNvSpPr txBox="1"/>
          <p:nvPr/>
        </p:nvSpPr>
        <p:spPr>
          <a:xfrm>
            <a:off x="3372914" y="1251003"/>
            <a:ext cx="566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                  &lt;AUC </a:t>
            </a:r>
            <a:r>
              <a:rPr lang="ko-KR" altLang="en-US" sz="2000" dirty="0"/>
              <a:t>측정 그래프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58703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163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모델링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3714" y="1041612"/>
            <a:ext cx="2677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</a:rPr>
              <a:t>Light BGM </a:t>
            </a:r>
            <a:r>
              <a:rPr lang="ko-KR" altLang="en-US" sz="2400" dirty="0">
                <a:latin typeface="+mn-ea"/>
              </a:rPr>
              <a:t>구조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26" name="Picture 2" descr="LightGBM 이란? 그리고 Parameter 튜닝하기 | entheoscient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20" y="1841055"/>
            <a:ext cx="9317160" cy="356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256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1691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모델링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DE336-0F01-40B5-AAB2-8B2BE8057C91}"/>
              </a:ext>
            </a:extLst>
          </p:cNvPr>
          <p:cNvSpPr txBox="1"/>
          <p:nvPr/>
        </p:nvSpPr>
        <p:spPr>
          <a:xfrm>
            <a:off x="641350" y="706504"/>
            <a:ext cx="109093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&lt;Light BGM </a:t>
            </a:r>
            <a:r>
              <a:rPr lang="ko-KR" altLang="en-US" sz="2000" dirty="0"/>
              <a:t>핵심 이해</a:t>
            </a:r>
            <a:r>
              <a:rPr lang="en-US" altLang="ko-KR" sz="2000" dirty="0"/>
              <a:t>&gt;</a:t>
            </a:r>
          </a:p>
          <a:p>
            <a:endParaRPr lang="en-US" altLang="ko-KR" dirty="0">
              <a:solidFill>
                <a:srgbClr val="444444"/>
              </a:solidFill>
              <a:latin typeface="Montserrat" panose="020B0604020202020204" pitchFamily="2" charset="0"/>
            </a:endParaRPr>
          </a:p>
          <a:p>
            <a:pPr marL="342900" indent="-342900">
              <a:buAutoNum type="arabicPeriod"/>
            </a:pPr>
            <a:r>
              <a:rPr lang="en-US" altLang="ko-KR" i="0" dirty="0">
                <a:effectLst/>
                <a:latin typeface="+mn-ea"/>
              </a:rPr>
              <a:t>GBDT(Gradient Boosting Decision Tree)</a:t>
            </a:r>
            <a:r>
              <a:rPr lang="ko-KR" altLang="en-US" i="0" dirty="0">
                <a:effectLst/>
                <a:latin typeface="+mn-ea"/>
              </a:rPr>
              <a:t>는 딥 러닝이나 머신 러닝에서 쉽게 볼 수 있는 개념인</a:t>
            </a:r>
            <a:endParaRPr lang="en-US" altLang="ko-KR" i="0" dirty="0">
              <a:effectLst/>
              <a:latin typeface="+mn-ea"/>
            </a:endParaRPr>
          </a:p>
          <a:p>
            <a:r>
              <a:rPr lang="en-US" altLang="ko-KR" dirty="0">
                <a:latin typeface="+mn-ea"/>
              </a:rPr>
              <a:t>    </a:t>
            </a:r>
            <a:r>
              <a:rPr lang="en-US" altLang="ko-KR" i="0" dirty="0">
                <a:effectLst/>
                <a:latin typeface="+mn-ea"/>
              </a:rPr>
              <a:t>gradient(</a:t>
            </a:r>
            <a:r>
              <a:rPr lang="ko-KR" altLang="en-US" i="0" dirty="0">
                <a:effectLst/>
                <a:latin typeface="+mn-ea"/>
              </a:rPr>
              <a:t>정답에 대한 경사</a:t>
            </a:r>
            <a:r>
              <a:rPr lang="en-US" altLang="ko-KR" i="0" dirty="0">
                <a:effectLst/>
                <a:latin typeface="+mn-ea"/>
              </a:rPr>
              <a:t>(Gradient)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)</a:t>
            </a:r>
            <a:r>
              <a:rPr lang="ko-KR" altLang="en-US" i="0" dirty="0">
                <a:effectLst/>
                <a:latin typeface="+mn-ea"/>
              </a:rPr>
              <a:t>를 이용해서 </a:t>
            </a:r>
            <a:r>
              <a:rPr lang="en-US" altLang="ko-KR" i="0" dirty="0">
                <a:effectLst/>
                <a:latin typeface="+mn-ea"/>
              </a:rPr>
              <a:t>Tree</a:t>
            </a:r>
            <a:r>
              <a:rPr lang="ko-KR" altLang="en-US" i="0" dirty="0">
                <a:effectLst/>
                <a:latin typeface="+mn-ea"/>
              </a:rPr>
              <a:t>를 만들어 낸다</a:t>
            </a:r>
            <a:r>
              <a:rPr lang="en-US" altLang="ko-KR" i="0" dirty="0">
                <a:effectLst/>
                <a:latin typeface="+mn-ea"/>
              </a:rPr>
              <a:t>.</a:t>
            </a:r>
          </a:p>
          <a:p>
            <a:endParaRPr lang="en-US" altLang="ko-KR" dirty="0">
              <a:latin typeface="+mn-ea"/>
            </a:endParaRPr>
          </a:p>
          <a:p>
            <a:pPr marL="342900" indent="-342900">
              <a:buAutoNum type="arabicPeriod" startAt="2"/>
            </a:pPr>
            <a:r>
              <a:rPr lang="en-US" altLang="ko-KR" i="0" dirty="0">
                <a:effectLst/>
                <a:latin typeface="+mn-ea"/>
              </a:rPr>
              <a:t>Light GBM</a:t>
            </a:r>
            <a:r>
              <a:rPr lang="ko-KR" altLang="en-US" i="0" dirty="0">
                <a:effectLst/>
                <a:latin typeface="+mn-ea"/>
              </a:rPr>
              <a:t>은 </a:t>
            </a:r>
            <a:r>
              <a:rPr lang="en-US" altLang="ko-KR" i="0" dirty="0">
                <a:effectLst/>
                <a:latin typeface="+mn-ea"/>
              </a:rPr>
              <a:t>Gradient Boosting </a:t>
            </a:r>
            <a:r>
              <a:rPr lang="ko-KR" altLang="en-US" dirty="0">
                <a:latin typeface="+mn-ea"/>
              </a:rPr>
              <a:t>프레임워크</a:t>
            </a:r>
            <a:r>
              <a:rPr lang="ko-KR" altLang="en-US" i="0" dirty="0">
                <a:effectLst/>
                <a:latin typeface="+mn-ea"/>
              </a:rPr>
              <a:t>로 </a:t>
            </a:r>
            <a:r>
              <a:rPr lang="en-US" altLang="ko-KR" i="0" dirty="0">
                <a:effectLst/>
                <a:latin typeface="+mn-ea"/>
              </a:rPr>
              <a:t>Tree </a:t>
            </a:r>
            <a:r>
              <a:rPr lang="ko-KR" altLang="en-US" i="0" dirty="0">
                <a:effectLst/>
                <a:latin typeface="+mn-ea"/>
              </a:rPr>
              <a:t>기반 학습 알고리즘이다</a:t>
            </a:r>
            <a:r>
              <a:rPr lang="en-US" altLang="ko-KR" i="0" dirty="0">
                <a:effectLst/>
                <a:latin typeface="+mn-ea"/>
              </a:rPr>
              <a:t>.</a:t>
            </a:r>
          </a:p>
          <a:p>
            <a:pPr marL="342900" indent="-342900">
              <a:buAutoNum type="arabicPeriod" startAt="2"/>
            </a:pPr>
            <a:endParaRPr lang="en-US" altLang="ko-KR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i="0" dirty="0">
              <a:effectLst/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i="0" dirty="0">
              <a:effectLst/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i="0" dirty="0">
              <a:effectLst/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i="0" dirty="0">
              <a:effectLst/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i="0" dirty="0">
              <a:effectLst/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i="0" dirty="0">
              <a:effectLst/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i="0" dirty="0">
                <a:effectLst/>
                <a:latin typeface="+mn-ea"/>
              </a:rPr>
              <a:t>                                 &lt; GBDT(Gradient Boosting Decision Tree)&gt;          </a:t>
            </a:r>
          </a:p>
          <a:p>
            <a:pPr marL="342900" indent="-342900">
              <a:buFontTx/>
              <a:buAutoNum type="arabicPeriod"/>
            </a:pPr>
            <a:endParaRPr lang="en-US" altLang="ko-KR" dirty="0">
              <a:latin typeface="+mn-ea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12B8233-6B42-496D-A920-2503B8214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00" y="2553163"/>
            <a:ext cx="6870700" cy="320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05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1691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모델링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6FAEB-4FE4-4D58-84AF-E6F4A94D53D5}"/>
              </a:ext>
            </a:extLst>
          </p:cNvPr>
          <p:cNvSpPr txBox="1"/>
          <p:nvPr/>
        </p:nvSpPr>
        <p:spPr>
          <a:xfrm>
            <a:off x="431800" y="706504"/>
            <a:ext cx="11201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/>
              <a:t>&lt;Light BGM </a:t>
            </a:r>
            <a:r>
              <a:rPr lang="ko-KR" altLang="en-US" sz="1800" dirty="0"/>
              <a:t>핵심 이해</a:t>
            </a:r>
            <a:r>
              <a:rPr lang="en-US" altLang="ko-KR" sz="1800" dirty="0"/>
              <a:t>&gt;</a:t>
            </a:r>
          </a:p>
          <a:p>
            <a:endParaRPr lang="en-US" altLang="ko-KR" dirty="0"/>
          </a:p>
          <a:p>
            <a:r>
              <a:rPr lang="en-US" altLang="ko-KR" i="0" dirty="0">
                <a:effectLst/>
                <a:latin typeface="+mn-ea"/>
              </a:rPr>
              <a:t>3.   </a:t>
            </a:r>
            <a:r>
              <a:rPr lang="ko-KR" altLang="en-US" i="0" dirty="0">
                <a:effectLst/>
                <a:latin typeface="+mn-ea"/>
              </a:rPr>
              <a:t>데이터는 </a:t>
            </a:r>
            <a:r>
              <a:rPr lang="en-US" altLang="ko-KR" i="0" dirty="0">
                <a:effectLst/>
                <a:latin typeface="+mn-ea"/>
              </a:rPr>
              <a:t>1000</a:t>
            </a:r>
            <a:r>
              <a:rPr lang="ko-KR" altLang="en-US" i="0" dirty="0">
                <a:effectLst/>
                <a:latin typeface="+mn-ea"/>
              </a:rPr>
              <a:t>개가 넘을 수 도 있고 </a:t>
            </a:r>
            <a:r>
              <a:rPr lang="en-US" altLang="ko-KR" i="0" dirty="0">
                <a:effectLst/>
                <a:latin typeface="+mn-ea"/>
              </a:rPr>
              <a:t>row</a:t>
            </a:r>
            <a:r>
              <a:rPr lang="ko-KR" altLang="en-US" i="0" dirty="0">
                <a:effectLst/>
                <a:latin typeface="+mn-ea"/>
              </a:rPr>
              <a:t>수는 억이 넘어갈 수도 있다</a:t>
            </a:r>
            <a:r>
              <a:rPr lang="en-US" altLang="ko-KR" i="0" dirty="0">
                <a:effectLst/>
                <a:latin typeface="+mn-ea"/>
              </a:rPr>
              <a:t>.  </a:t>
            </a:r>
            <a:r>
              <a:rPr lang="en-US" altLang="ko-KR" i="0" dirty="0" err="1">
                <a:effectLst/>
                <a:latin typeface="+mn-ea"/>
              </a:rPr>
              <a:t>XGBoost</a:t>
            </a:r>
            <a:r>
              <a:rPr lang="en-US" altLang="ko-KR" i="0" dirty="0">
                <a:effectLst/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or</a:t>
            </a:r>
            <a:r>
              <a:rPr lang="ko-KR" altLang="en-US" i="0" dirty="0">
                <a:effectLst/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L</a:t>
            </a:r>
            <a:r>
              <a:rPr lang="en-US" altLang="ko-KR" i="0" dirty="0" err="1">
                <a:effectLst/>
                <a:latin typeface="+mn-ea"/>
              </a:rPr>
              <a:t>ightGBM</a:t>
            </a:r>
            <a:r>
              <a:rPr lang="en-US" altLang="ko-KR" i="0" dirty="0">
                <a:effectLst/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은</a:t>
            </a:r>
            <a:r>
              <a:rPr lang="ko-KR" altLang="en-US" i="0" dirty="0">
                <a:effectLst/>
                <a:latin typeface="+mn-ea"/>
              </a:rPr>
              <a:t> </a:t>
            </a:r>
            <a:endParaRPr lang="en-US" altLang="ko-KR" i="0" dirty="0">
              <a:effectLst/>
              <a:latin typeface="+mn-ea"/>
            </a:endParaRPr>
          </a:p>
          <a:p>
            <a:r>
              <a:rPr lang="en-US" altLang="ko-KR" dirty="0">
                <a:latin typeface="+mn-ea"/>
              </a:rPr>
              <a:t>     </a:t>
            </a:r>
            <a:r>
              <a:rPr lang="ko-KR" altLang="en-US" i="0" dirty="0">
                <a:effectLst/>
                <a:latin typeface="+mn-ea"/>
              </a:rPr>
              <a:t>이러한 큰 테이블 형태의 데이터가 있을 때 세로를 줄이거나 </a:t>
            </a:r>
            <a:r>
              <a:rPr lang="en-US" altLang="ko-KR" i="0" dirty="0">
                <a:effectLst/>
                <a:latin typeface="+mn-ea"/>
              </a:rPr>
              <a:t>(</a:t>
            </a:r>
            <a:r>
              <a:rPr lang="ko-KR" altLang="en-US" i="0" dirty="0">
                <a:effectLst/>
                <a:latin typeface="+mn-ea"/>
              </a:rPr>
              <a:t>데이터 </a:t>
            </a:r>
            <a:r>
              <a:rPr lang="ko-KR" altLang="en-US" dirty="0">
                <a:latin typeface="+mn-ea"/>
              </a:rPr>
              <a:t>개</a:t>
            </a:r>
            <a:r>
              <a:rPr lang="ko-KR" altLang="en-US" i="0" dirty="0">
                <a:effectLst/>
                <a:latin typeface="+mn-ea"/>
              </a:rPr>
              <a:t>수</a:t>
            </a:r>
            <a:r>
              <a:rPr lang="en-US" altLang="ko-KR" i="0" dirty="0">
                <a:effectLst/>
                <a:latin typeface="+mn-ea"/>
              </a:rPr>
              <a:t>) </a:t>
            </a:r>
          </a:p>
          <a:p>
            <a:r>
              <a:rPr lang="en-US" altLang="ko-KR" dirty="0">
                <a:latin typeface="+mn-ea"/>
              </a:rPr>
              <a:t>     </a:t>
            </a:r>
            <a:r>
              <a:rPr lang="ko-KR" altLang="en-US" i="0" dirty="0">
                <a:effectLst/>
                <a:latin typeface="+mn-ea"/>
              </a:rPr>
              <a:t>가로를 줄이거나 </a:t>
            </a:r>
            <a:r>
              <a:rPr lang="en-US" altLang="ko-KR" i="0" dirty="0">
                <a:effectLst/>
                <a:latin typeface="+mn-ea"/>
              </a:rPr>
              <a:t>(feature  column)</a:t>
            </a:r>
            <a:r>
              <a:rPr lang="ko-KR" altLang="en-US" i="0" dirty="0">
                <a:effectLst/>
                <a:latin typeface="+mn-ea"/>
              </a:rPr>
              <a:t>에 대한 문제를 효율적으로 다룬 라이브러리들이다</a:t>
            </a:r>
            <a:r>
              <a:rPr lang="en-US" altLang="ko-KR" i="0" dirty="0">
                <a:effectLst/>
                <a:latin typeface="+mn-ea"/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                                       </a:t>
            </a:r>
            <a:r>
              <a:rPr lang="en-US" altLang="ko-KR" i="0" dirty="0">
                <a:effectLst/>
                <a:latin typeface="+mn-ea"/>
              </a:rPr>
              <a:t>&lt;GOSS (Gradient based One Side Sampling)&gt;</a:t>
            </a:r>
          </a:p>
          <a:p>
            <a:endParaRPr lang="en-US" altLang="ko-KR" dirty="0"/>
          </a:p>
          <a:p>
            <a:r>
              <a:rPr lang="en-US" altLang="ko-KR" dirty="0">
                <a:latin typeface="+mn-ea"/>
              </a:rPr>
              <a:t>4.   Light GBM</a:t>
            </a:r>
            <a:r>
              <a:rPr lang="ko-KR" altLang="en-US" dirty="0">
                <a:latin typeface="+mn-ea"/>
              </a:rPr>
              <a:t>은 </a:t>
            </a:r>
            <a:r>
              <a:rPr lang="en-US" altLang="ko-KR" dirty="0">
                <a:latin typeface="+mn-ea"/>
              </a:rPr>
              <a:t>Tree</a:t>
            </a:r>
            <a:r>
              <a:rPr lang="ko-KR" altLang="en-US" dirty="0">
                <a:latin typeface="+mn-ea"/>
              </a:rPr>
              <a:t>가 수직적으로 확장되는 반면에 다른 알고리즘은 </a:t>
            </a:r>
            <a:r>
              <a:rPr lang="en-US" altLang="ko-KR" dirty="0">
                <a:latin typeface="+mn-ea"/>
              </a:rPr>
              <a:t>Tree</a:t>
            </a:r>
            <a:r>
              <a:rPr lang="ko-KR" altLang="en-US" dirty="0">
                <a:latin typeface="+mn-ea"/>
              </a:rPr>
              <a:t>가 수평적으로 확장됩니다</a:t>
            </a:r>
            <a:r>
              <a:rPr lang="en-US" altLang="ko-KR" dirty="0">
                <a:latin typeface="+mn-ea"/>
              </a:rPr>
              <a:t>.</a:t>
            </a:r>
          </a:p>
          <a:p>
            <a:endParaRPr lang="ko-KR" alt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F03F857-A8E7-49C2-8C08-654F0DBB6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362200"/>
            <a:ext cx="97536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886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1691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모델링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F510CF3-AF57-44D9-B795-A03903F57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478" y="706504"/>
            <a:ext cx="5410993" cy="206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6EE5EB-AA21-4E91-8B49-9F7BE3253817}"/>
              </a:ext>
            </a:extLst>
          </p:cNvPr>
          <p:cNvSpPr txBox="1"/>
          <p:nvPr/>
        </p:nvSpPr>
        <p:spPr>
          <a:xfrm>
            <a:off x="5080000" y="2578841"/>
            <a:ext cx="20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Light BGM </a:t>
            </a:r>
            <a:r>
              <a:rPr lang="ko-KR" altLang="en-US" sz="1400" dirty="0"/>
              <a:t>작동원리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E2486798-F906-4E35-8095-F9E674F50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810" y="3693458"/>
            <a:ext cx="5245893" cy="222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7C6FB6-9713-497E-B1ED-67AF9E4FB7C4}"/>
              </a:ext>
            </a:extLst>
          </p:cNvPr>
          <p:cNvSpPr txBox="1"/>
          <p:nvPr/>
        </p:nvSpPr>
        <p:spPr>
          <a:xfrm>
            <a:off x="4959350" y="5614916"/>
            <a:ext cx="227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다른 </a:t>
            </a:r>
            <a:r>
              <a:rPr lang="en-US" altLang="ko-KR" sz="1400" dirty="0"/>
              <a:t>Boosting </a:t>
            </a:r>
            <a:r>
              <a:rPr lang="ko-KR" altLang="en-US" sz="1400" dirty="0"/>
              <a:t>작동원리</a:t>
            </a:r>
            <a:r>
              <a:rPr lang="en-US" altLang="ko-KR" sz="1400" dirty="0"/>
              <a:t>(</a:t>
            </a:r>
            <a:r>
              <a:rPr lang="en-US" altLang="ko-KR" sz="1400" dirty="0" err="1"/>
              <a:t>XGBoost</a:t>
            </a:r>
            <a:r>
              <a:rPr lang="ko-KR" altLang="en-US" sz="1400" dirty="0"/>
              <a:t> 포함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C3E7E-C093-4AD8-B0F3-7ACDD137C7E6}"/>
              </a:ext>
            </a:extLst>
          </p:cNvPr>
          <p:cNvSpPr txBox="1"/>
          <p:nvPr/>
        </p:nvSpPr>
        <p:spPr>
          <a:xfrm>
            <a:off x="5520233" y="3164542"/>
            <a:ext cx="1061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C000"/>
                </a:solidFill>
              </a:rPr>
              <a:t>V S</a:t>
            </a:r>
            <a:endParaRPr lang="ko-KR" altLang="en-US" sz="4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01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3021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lang="ko-KR" altLang="en-US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성능 평가 지표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92D46-8A07-48B3-A277-F51C73AED643}"/>
              </a:ext>
            </a:extLst>
          </p:cNvPr>
          <p:cNvSpPr txBox="1"/>
          <p:nvPr/>
        </p:nvSpPr>
        <p:spPr>
          <a:xfrm>
            <a:off x="431800" y="706504"/>
            <a:ext cx="112268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&lt;ACC (</a:t>
            </a:r>
            <a:r>
              <a:rPr lang="en-US" altLang="ko-KR" sz="2800" i="0" dirty="0">
                <a:solidFill>
                  <a:srgbClr val="000000"/>
                </a:solidFill>
                <a:effectLst/>
                <a:latin typeface="+mn-ea"/>
              </a:rPr>
              <a:t>Accuracy) </a:t>
            </a:r>
            <a:r>
              <a:rPr lang="ko-KR" altLang="en-US" sz="2800" i="0" dirty="0">
                <a:solidFill>
                  <a:srgbClr val="000000"/>
                </a:solidFill>
                <a:effectLst/>
                <a:latin typeface="+mn-ea"/>
              </a:rPr>
              <a:t>정확도</a:t>
            </a:r>
            <a:r>
              <a:rPr lang="en-US" altLang="ko-KR" sz="2800" i="0" dirty="0">
                <a:solidFill>
                  <a:srgbClr val="000000"/>
                </a:solidFill>
                <a:effectLst/>
                <a:latin typeface="+mn-ea"/>
              </a:rPr>
              <a:t>&gt;</a:t>
            </a:r>
            <a:endParaRPr lang="en-US" altLang="ko-KR" sz="2800" dirty="0">
              <a:solidFill>
                <a:srgbClr val="000000"/>
              </a:solidFill>
              <a:latin typeface="+mn-ea"/>
            </a:endParaRPr>
          </a:p>
          <a:p>
            <a:endParaRPr lang="en-US" altLang="ko-KR" i="0" dirty="0">
              <a:solidFill>
                <a:srgbClr val="000000"/>
              </a:solidFill>
              <a:effectLst/>
              <a:latin typeface="+mn-ea"/>
            </a:endParaRPr>
          </a:p>
          <a:p>
            <a:endParaRPr lang="en-US" altLang="ko-KR" i="0" dirty="0">
              <a:solidFill>
                <a:srgbClr val="000000"/>
              </a:solidFill>
              <a:effectLst/>
              <a:latin typeface="+mn-ea"/>
            </a:endParaRPr>
          </a:p>
          <a:p>
            <a:endParaRPr lang="en-US" altLang="ko-KR" i="0" dirty="0">
              <a:solidFill>
                <a:srgbClr val="000000"/>
              </a:solidFill>
              <a:effectLst/>
              <a:latin typeface="+mn-ea"/>
            </a:endParaRPr>
          </a:p>
        </p:txBody>
      </p:sp>
      <p:pic>
        <p:nvPicPr>
          <p:cNvPr id="12294" name="Picture 6" descr="분류성능평가지표 - Precision(정밀도), Recall(재현율) and Accuracy(정확도)">
            <a:extLst>
              <a:ext uri="{FF2B5EF4-FFF2-40B4-BE49-F238E27FC236}">
                <a16:creationId xmlns:a16="http://schemas.microsoft.com/office/drawing/2014/main" id="{B295C824-2E40-43E1-A4DC-1CF7A56DE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7" y="1202365"/>
            <a:ext cx="5610225" cy="282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CE9AF7-40C8-4B92-BD54-1CCC36507044}"/>
              </a:ext>
            </a:extLst>
          </p:cNvPr>
          <p:cNvSpPr txBox="1"/>
          <p:nvPr/>
        </p:nvSpPr>
        <p:spPr>
          <a:xfrm>
            <a:off x="3240087" y="4178307"/>
            <a:ext cx="6718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True Positive(TP)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실제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True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인 정답을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True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라고 예측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정답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False Positive(FP)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실제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False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인 정답을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True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라고 예측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오답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False Negative(FN)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실제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True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인 정답을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False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라고 예측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오답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True Negative(TN)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실제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False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인 정답을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False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라고 예측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정답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00000"/>
              </a:solidFill>
              <a:latin typeface="Noto Sans KR"/>
            </a:endParaRPr>
          </a:p>
          <a:p>
            <a:endParaRPr lang="ko-KR" altLang="en-US" dirty="0"/>
          </a:p>
        </p:txBody>
      </p:sp>
      <p:pic>
        <p:nvPicPr>
          <p:cNvPr id="12296" name="Picture 8">
            <a:extLst>
              <a:ext uri="{FF2B5EF4-FFF2-40B4-BE49-F238E27FC236}">
                <a16:creationId xmlns:a16="http://schemas.microsoft.com/office/drawing/2014/main" id="{89B29FC6-5CC5-4326-B678-E79CF4BFA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4" y="5558320"/>
            <a:ext cx="5418138" cy="71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955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BDD1F-D460-4B5B-B79B-68A89E663032}"/>
              </a:ext>
            </a:extLst>
          </p:cNvPr>
          <p:cNvSpPr txBox="1"/>
          <p:nvPr/>
        </p:nvSpPr>
        <p:spPr>
          <a:xfrm>
            <a:off x="279399" y="132878"/>
            <a:ext cx="3021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4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. </a:t>
            </a:r>
            <a:r>
              <a:rPr lang="ko-KR" altLang="en-US" sz="2800" b="1" noProof="0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성능 평가 지표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B708EA5-B2C5-4AA3-97DA-A4F7D693F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815" y="1272520"/>
            <a:ext cx="5014369" cy="3530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75FAF-B3C9-465A-A240-07F7B25A65AE}"/>
              </a:ext>
            </a:extLst>
          </p:cNvPr>
          <p:cNvSpPr txBox="1"/>
          <p:nvPr/>
        </p:nvSpPr>
        <p:spPr>
          <a:xfrm>
            <a:off x="381000" y="7493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&lt;Loss (</a:t>
            </a:r>
            <a:r>
              <a:rPr lang="ko-KR" altLang="en-US" sz="2800" dirty="0"/>
              <a:t>손실률</a:t>
            </a:r>
            <a:r>
              <a:rPr lang="en-US" altLang="ko-KR" sz="2800" dirty="0"/>
              <a:t>)&gt;</a:t>
            </a:r>
            <a:endParaRPr lang="ko-KR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CC787-E600-4A57-8294-B26DA76912D6}"/>
              </a:ext>
            </a:extLst>
          </p:cNvPr>
          <p:cNvSpPr txBox="1"/>
          <p:nvPr/>
        </p:nvSpPr>
        <p:spPr>
          <a:xfrm>
            <a:off x="1028700" y="5080000"/>
            <a:ext cx="9994900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i="0" dirty="0">
                <a:solidFill>
                  <a:srgbClr val="202124"/>
                </a:solidFill>
                <a:effectLst/>
                <a:latin typeface="+mn-ea"/>
              </a:rPr>
              <a:t>- </a:t>
            </a:r>
            <a:r>
              <a:rPr lang="ko-KR" altLang="en-US" sz="1800" b="1" i="0" dirty="0">
                <a:solidFill>
                  <a:srgbClr val="202124"/>
                </a:solidFill>
                <a:effectLst/>
                <a:latin typeface="+mn-ea"/>
              </a:rPr>
              <a:t>훈련 손실</a:t>
            </a:r>
            <a:r>
              <a:rPr lang="en-US" altLang="ko-KR" sz="1800" b="1" i="0" dirty="0">
                <a:solidFill>
                  <a:srgbClr val="202124"/>
                </a:solidFill>
                <a:effectLst/>
                <a:latin typeface="+mn-ea"/>
              </a:rPr>
              <a:t>: </a:t>
            </a:r>
            <a:r>
              <a:rPr lang="ko-KR" altLang="en-US" sz="1800" b="1" i="0" dirty="0">
                <a:solidFill>
                  <a:srgbClr val="202124"/>
                </a:solidFill>
                <a:effectLst/>
                <a:latin typeface="+mn-ea"/>
              </a:rPr>
              <a:t> </a:t>
            </a:r>
            <a:r>
              <a:rPr lang="en-US" altLang="ko-KR" sz="1800" b="1" i="0" dirty="0">
                <a:solidFill>
                  <a:srgbClr val="202124"/>
                </a:solidFill>
                <a:effectLst/>
                <a:latin typeface="+mn-ea"/>
              </a:rPr>
              <a:t>Epochs </a:t>
            </a:r>
            <a:r>
              <a:rPr lang="ko-KR" altLang="en-US" sz="1800" b="1" i="0" dirty="0">
                <a:solidFill>
                  <a:srgbClr val="202124"/>
                </a:solidFill>
                <a:effectLst/>
                <a:latin typeface="+mn-ea"/>
              </a:rPr>
              <a:t>마다 </a:t>
            </a:r>
            <a:r>
              <a:rPr lang="ko-KR" altLang="en-US" sz="1800" b="1" u="sng" dirty="0">
                <a:solidFill>
                  <a:srgbClr val="202124"/>
                </a:solidFill>
                <a:effectLst/>
                <a:latin typeface="+mn-ea"/>
              </a:rPr>
              <a:t>감소                 </a:t>
            </a:r>
            <a:endParaRPr lang="en-US" altLang="ko-KR" sz="1800" b="1" u="sng" dirty="0">
              <a:solidFill>
                <a:srgbClr val="202124"/>
              </a:solidFill>
              <a:effectLst/>
              <a:latin typeface="+mn-ea"/>
            </a:endParaRPr>
          </a:p>
          <a:p>
            <a:r>
              <a:rPr lang="en-US" altLang="ko-KR" b="1" dirty="0">
                <a:solidFill>
                  <a:srgbClr val="202124"/>
                </a:solidFill>
                <a:latin typeface="+mn-ea"/>
              </a:rPr>
              <a:t>- </a:t>
            </a:r>
            <a:r>
              <a:rPr lang="ko-KR" altLang="en-US" sz="1800" b="1" i="0" dirty="0">
                <a:solidFill>
                  <a:srgbClr val="202124"/>
                </a:solidFill>
                <a:effectLst/>
                <a:latin typeface="+mn-ea"/>
              </a:rPr>
              <a:t>훈련 정확도 </a:t>
            </a:r>
            <a:r>
              <a:rPr lang="en-US" altLang="ko-KR" sz="1800" b="1" i="0" dirty="0">
                <a:solidFill>
                  <a:srgbClr val="202124"/>
                </a:solidFill>
                <a:effectLst/>
                <a:latin typeface="+mn-ea"/>
              </a:rPr>
              <a:t>: Epochs </a:t>
            </a:r>
            <a:r>
              <a:rPr lang="ko-KR" altLang="en-US" sz="1800" b="1" i="0" dirty="0">
                <a:solidFill>
                  <a:srgbClr val="202124"/>
                </a:solidFill>
                <a:effectLst/>
                <a:latin typeface="+mn-ea"/>
              </a:rPr>
              <a:t>마다  </a:t>
            </a:r>
            <a:r>
              <a:rPr lang="ko-KR" altLang="en-US" sz="1800" b="1" u="sng" dirty="0">
                <a:solidFill>
                  <a:srgbClr val="202124"/>
                </a:solidFill>
                <a:effectLst/>
                <a:latin typeface="+mn-ea"/>
              </a:rPr>
              <a:t>증가</a:t>
            </a:r>
            <a:endParaRPr lang="en-US" altLang="ko-KR" sz="1800" b="1" u="sng" dirty="0">
              <a:solidFill>
                <a:srgbClr val="202124"/>
              </a:solidFill>
              <a:effectLst/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b="1" dirty="0">
                <a:solidFill>
                  <a:srgbClr val="202124"/>
                </a:solidFill>
                <a:latin typeface="+mn-ea"/>
              </a:rPr>
              <a:t>- </a:t>
            </a:r>
            <a:r>
              <a:rPr lang="ko-KR" altLang="en-US" b="1" dirty="0">
                <a:solidFill>
                  <a:srgbClr val="202124"/>
                </a:solidFill>
                <a:latin typeface="+mn-ea"/>
              </a:rPr>
              <a:t>손실률은 오차를 나타나기 때문에 낮을 수록 좋다</a:t>
            </a:r>
            <a:r>
              <a:rPr lang="en-US" altLang="ko-KR" b="1" dirty="0">
                <a:solidFill>
                  <a:srgbClr val="202124"/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8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※ Epochs :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se-nanumgothic"/>
              </a:rPr>
              <a:t>전체 데이터 셋에 대해 한 번 학습을 완료한 상태</a:t>
            </a:r>
            <a:r>
              <a:rPr lang="en-US" altLang="ko-KR" b="1" dirty="0">
                <a:solidFill>
                  <a:srgbClr val="000000"/>
                </a:solidFill>
                <a:latin typeface="se-nanumgothic"/>
              </a:rPr>
              <a:t>.</a:t>
            </a:r>
            <a:endParaRPr lang="en-US" altLang="ko-KR" sz="1800" b="1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272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3DFD87-BB1F-4ED6-8594-9E10933C4AF0}"/>
              </a:ext>
            </a:extLst>
          </p:cNvPr>
          <p:cNvSpPr/>
          <p:nvPr/>
        </p:nvSpPr>
        <p:spPr>
          <a:xfrm>
            <a:off x="0" y="2225675"/>
            <a:ext cx="12192000" cy="2406650"/>
          </a:xfrm>
          <a:prstGeom prst="rect">
            <a:avLst/>
          </a:prstGeom>
          <a:solidFill>
            <a:srgbClr val="FDFBF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3509C2-E0A2-4A20-A764-ACFA58100B20}"/>
              </a:ext>
            </a:extLst>
          </p:cNvPr>
          <p:cNvSpPr txBox="1"/>
          <p:nvPr/>
        </p:nvSpPr>
        <p:spPr>
          <a:xfrm>
            <a:off x="2986857" y="2394097"/>
            <a:ext cx="517641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5. </a:t>
            </a:r>
            <a:r>
              <a:rPr kumimoji="0" lang="ko-KR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참고  자료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286" y="3524716"/>
            <a:ext cx="2797429" cy="13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3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86C171-7A3F-4972-8BC5-0365429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530" y="633865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 </a:t>
            </a:r>
            <a:fld id="{AF13D911-202B-4710-8554-D7B423191ADD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34" charset="-127"/>
                <a:ea typeface="NanumSquare" panose="020B0600000101010101" pitchFamily="34" charset="-127"/>
                <a:cs typeface="+mn-cs"/>
              </a:rPr>
              <a:t>-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34" charset="-127"/>
              <a:ea typeface="NanumSquare" panose="020B0600000101010101" pitchFamily="34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777C-CFFA-4D9C-9EEA-F8CDBF9DA4E4}"/>
              </a:ext>
            </a:extLst>
          </p:cNvPr>
          <p:cNvSpPr txBox="1"/>
          <p:nvPr/>
        </p:nvSpPr>
        <p:spPr>
          <a:xfrm>
            <a:off x="228599" y="183284"/>
            <a:ext cx="2177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rPr>
              <a:t>5. </a:t>
            </a:r>
            <a:r>
              <a:rPr lang="ko-KR" altLang="en-US" sz="2800" b="1" dirty="0">
                <a:solidFill>
                  <a:prstClr val="black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참고 자료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34" charset="-127"/>
              <a:ea typeface="NanumSquare ExtraBold" panose="020B0600000101010101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1637E-4A64-4EA2-8801-88DC2A4EF436}"/>
              </a:ext>
            </a:extLst>
          </p:cNvPr>
          <p:cNvSpPr txBox="1"/>
          <p:nvPr/>
        </p:nvSpPr>
        <p:spPr>
          <a:xfrm>
            <a:off x="431800" y="863600"/>
            <a:ext cx="11303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참고 자료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>
                <a:hlinkClick r:id="rId2"/>
              </a:rPr>
              <a:t>http://machinelearningkorea.com/2019/09/25/lightgbm%EC%9D%98-%ED%95%B5%EC%8B%AC%EC%9D%B4%ED%95%B4/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>
                <a:hlinkClick r:id="rId3"/>
              </a:rPr>
              <a:t>https://arxiv.org/pdf/1603.02754.pdf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>
                <a:hlinkClick r:id="rId4"/>
              </a:rPr>
              <a:t>https://sumniya.tistory.com/26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>
                <a:hlinkClick r:id="rId5"/>
              </a:rPr>
              <a:t>https://nurilee.com/2020/04/03/lightgbm-definition-parameter-tuning/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>
                <a:hlinkClick r:id="rId6"/>
              </a:rPr>
              <a:t>https://wycho.tistory.com/103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>
                <a:hlinkClick r:id="rId7"/>
              </a:rPr>
              <a:t>https://greatjoy.tistory.com/72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>
                <a:hlinkClick r:id="rId8"/>
              </a:rPr>
              <a:t>https://githubmate.com/repo/INRIA/scikit-learn-mooc/issues/446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889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AB8ED0-37C3-46AC-843A-BBC6A7FF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9400" y="620706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13D911-202B-4710-8554-D7B423191A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DA6753-3580-440E-903A-8B16A3579936}"/>
              </a:ext>
            </a:extLst>
          </p:cNvPr>
          <p:cNvSpPr/>
          <p:nvPr/>
        </p:nvSpPr>
        <p:spPr>
          <a:xfrm>
            <a:off x="0" y="0"/>
            <a:ext cx="12213771" cy="2985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32874C-6811-4AD5-BD91-34A3FE675F9B}"/>
              </a:ext>
            </a:extLst>
          </p:cNvPr>
          <p:cNvSpPr/>
          <p:nvPr/>
        </p:nvSpPr>
        <p:spPr>
          <a:xfrm>
            <a:off x="0" y="6572185"/>
            <a:ext cx="12213771" cy="2985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1" name="Picture 5" descr="Thank You for A Fantastic Year | PearlPoint Nutrition Services®">
            <a:extLst>
              <a:ext uri="{FF2B5EF4-FFF2-40B4-BE49-F238E27FC236}">
                <a16:creationId xmlns:a16="http://schemas.microsoft.com/office/drawing/2014/main" id="{BE98DF9F-3948-430D-9DF7-F9C979D10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12799"/>
            <a:ext cx="7620000" cy="557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4963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1205</Words>
  <Application>Microsoft Office PowerPoint</Application>
  <PresentationFormat>와이드스크린</PresentationFormat>
  <Paragraphs>285</Paragraphs>
  <Slides>30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44" baseType="lpstr">
      <vt:lpstr>AppleSDGothicNeo</vt:lpstr>
      <vt:lpstr>KoPubDotum Medium</vt:lpstr>
      <vt:lpstr>NanumSquare</vt:lpstr>
      <vt:lpstr>NanumSquare ExtraBold</vt:lpstr>
      <vt:lpstr>Noto Sans KR</vt:lpstr>
      <vt:lpstr>se-nanumgothic</vt:lpstr>
      <vt:lpstr>Ubuntu</vt:lpstr>
      <vt:lpstr>나눔스퀘어_ac Bold</vt:lpstr>
      <vt:lpstr>맑은 고딕</vt:lpstr>
      <vt:lpstr>Arial</vt:lpstr>
      <vt:lpstr>Montserrat</vt:lpstr>
      <vt:lpstr>Roboto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GREEN</dc:creator>
  <cp:lastModifiedBy>김 재원</cp:lastModifiedBy>
  <cp:revision>67</cp:revision>
  <dcterms:created xsi:type="dcterms:W3CDTF">2021-11-25T01:45:14Z</dcterms:created>
  <dcterms:modified xsi:type="dcterms:W3CDTF">2021-12-31T01:27:39Z</dcterms:modified>
</cp:coreProperties>
</file>